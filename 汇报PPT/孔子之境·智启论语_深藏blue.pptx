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9" r:id="rId14"/>
    <p:sldId id="286" r:id="rId15"/>
    <p:sldId id="270" r:id="rId16"/>
    <p:sldId id="271" r:id="rId17"/>
    <p:sldId id="287" r:id="rId18"/>
    <p:sldId id="272" r:id="rId19"/>
    <p:sldId id="288" r:id="rId20"/>
    <p:sldId id="289" r:id="rId21"/>
    <p:sldId id="290" r:id="rId22"/>
    <p:sldId id="291" r:id="rId23"/>
    <p:sldId id="292" r:id="rId24"/>
    <p:sldId id="27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280" r:id="rId33"/>
    <p:sldId id="301" r:id="rId34"/>
    <p:sldId id="283" r:id="rId35"/>
    <p:sldId id="284" r:id="rId36"/>
    <p:sldId id="302" r:id="rId37"/>
    <p:sldId id="303" r:id="rId38"/>
    <p:sldId id="304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2F26"/>
    <a:srgbClr val="B08D57"/>
    <a:srgbClr val="2F4A40"/>
    <a:srgbClr val="FBF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3" autoAdjust="0"/>
    <p:restoredTop sz="94840" autoAdjust="0"/>
  </p:normalViewPr>
  <p:slideViewPr>
    <p:cSldViewPr snapToGrid="0" snapToObjects="1">
      <p:cViewPr varScale="1">
        <p:scale>
          <a:sx n="66" d="100"/>
          <a:sy n="66" d="100"/>
        </p:scale>
        <p:origin x="40" y="6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示例均分</c:f>
              <c:strCache>
                <c:ptCount val="1"/>
                <c:pt idx="0">
                  <c:v>示例均分</c:v>
                </c:pt>
              </c:strCache>
            </c:strRef>
          </c:tx>
          <c:spPr>
            <a:solidFill>
              <a:srgbClr val="D8A09B"/>
            </a:solidFill>
            <a:ln w="23813">
              <a:solidFill>
                <a:srgbClr val="8F251E"/>
              </a:solidFill>
              <a:prstDash val="solid"/>
            </a:ln>
          </c:spPr>
          <c:cat>
            <c:strRef>
              <c:f>{"检索匹配","出处可靠","分层表达","回答质量","表达与角色"}</c:f>
              <c:strCache>
                <c:ptCount val="5"/>
                <c:pt idx="0">
                  <c:v>检索匹配</c:v>
                </c:pt>
                <c:pt idx="1">
                  <c:v>出处可靠</c:v>
                </c:pt>
                <c:pt idx="2">
                  <c:v>分层表达</c:v>
                </c:pt>
                <c:pt idx="3">
                  <c:v>回答质量</c:v>
                </c:pt>
                <c:pt idx="4">
                  <c:v>表达与角色</c:v>
                </c:pt>
              </c:strCache>
            </c:strRef>
          </c:cat>
          <c:val>
            <c:numRef>
              <c:f>{4.7,4.5,4.2,4.2,4.1}</c:f>
              <c:numCache>
                <c:formatCode>0.0</c:formatCode>
                <c:ptCount val="5"/>
                <c:pt idx="0">
                  <c:v>4.7</c:v>
                </c:pt>
                <c:pt idx="1">
                  <c:v>4.5</c:v>
                </c:pt>
                <c:pt idx="2">
                  <c:v>4.2</c:v>
                </c:pt>
                <c:pt idx="3">
                  <c:v>4.2</c:v>
                </c:pt>
                <c:pt idx="4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70-4BBB-B63F-BF30512659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BCAF9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65" b="1" i="0" u="none" strike="noStrike" kern="1200" baseline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 cap="flat" cmpd="sng" algn="ctr">
              <a:solidFill>
                <a:srgbClr val="D8CCB7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one"/>
        <c:spPr>
          <a:ln w="9525" cap="flat" cmpd="sng" algn="ctr">
            <a:solidFill>
              <a:srgbClr val="BCAF9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4ECD9"/>
        </a:solidFill>
        <a:ln w="0">
          <a:noFill/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f0e2950-837a-42d2-a22b-41027a1e4c5e}"/>
      </c:ext>
    </c:extLst>
  </c:chart>
  <c:spPr>
    <a:solidFill>
      <a:srgbClr val="F4ECD9"/>
    </a:solidFill>
    <a:ln w="0">
      <a:noFill/>
      <a:prstDash val="solid"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2C05-837C-4608-9B3F-F584E85D8EF5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E0143-C9F8-405F-AF27-5EAB24678B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327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E0143-C9F8-405F-AF27-5EAB24678B3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285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E0143-C9F8-405F-AF27-5EAB24678B3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426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14FD72-377E-4780-9BEA-ACA87D3C955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14FD72-377E-4780-9BEA-ACA87D3C955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14FD72-377E-4780-9BEA-ACA87D3C955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84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9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chart" Target="../charts/char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127.0.0.1:8787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22770" y="1339594"/>
            <a:ext cx="1554480" cy="237744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0" b="0" dirty="0">
                <a:solidFill>
                  <a:srgbClr val="DED2B8"/>
                </a:solidFill>
                <a:latin typeface="KaiTi"/>
                <a:ea typeface="KaiTi"/>
                <a:cs typeface="KaiTi"/>
              </a:rPr>
              <a:t>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960120"/>
            <a:ext cx="1051560" cy="1051560"/>
          </a:xfrm>
          <a:prstGeom prst="roundRect">
            <a:avLst>
              <a:gd name="adj" fmla="val 5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0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論語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0"/>
            <a:ext cx="7315200" cy="216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dirty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sz="1200" b="0" dirty="0" err="1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人工智能+X》课程汇报</a:t>
            </a:r>
            <a:endParaRPr sz="1200" b="0" dirty="0">
              <a:solidFill>
                <a:srgbClr val="B08D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1425912"/>
            <a:ext cx="9144000" cy="100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5400" b="1" dirty="0" err="1">
                <a:solidFill>
                  <a:srgbClr val="1B191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KaiTi"/>
              </a:rPr>
              <a:t>孔子之境</a:t>
            </a:r>
            <a:r>
              <a:rPr sz="5400" b="1" dirty="0">
                <a:solidFill>
                  <a:srgbClr val="1B191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KaiTi"/>
              </a:rPr>
              <a:t> · </a:t>
            </a:r>
            <a:r>
              <a:rPr sz="5400" b="1" dirty="0" err="1">
                <a:solidFill>
                  <a:srgbClr val="1B1916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KaiTi"/>
              </a:rPr>
              <a:t>智启论语</a:t>
            </a:r>
            <a:endParaRPr sz="5400" b="1" dirty="0">
              <a:solidFill>
                <a:srgbClr val="1B1916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KaiTi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05840" y="2578608"/>
            <a:ext cx="3291840" cy="0"/>
          </a:xfrm>
          <a:prstGeom prst="line">
            <a:avLst/>
          </a:prstGeom>
          <a:ln w="25400">
            <a:solidFill>
              <a:srgbClr val="9C2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05840" y="272491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一站式《论语》沉浸式学习与创作平台</a:t>
            </a:r>
            <a:endParaRPr sz="17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87552" y="3401568"/>
            <a:ext cx="1207008" cy="420624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2F4A40"/>
                </a:solidFill>
                <a:latin typeface="KaiTi"/>
                <a:ea typeface="KaiTi"/>
                <a:cs typeface="KaiTi"/>
              </a:rPr>
              <a:t>读典籍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4" y="3401568"/>
            <a:ext cx="1207008" cy="420624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2F4A40"/>
                </a:solidFill>
                <a:latin typeface="KaiTi"/>
                <a:ea typeface="KaiTi"/>
                <a:cs typeface="KaiTi"/>
              </a:rPr>
              <a:t>问疑惑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4176" y="3401568"/>
            <a:ext cx="1207008" cy="420624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2F4A40"/>
                </a:solidFill>
                <a:latin typeface="KaiTi"/>
                <a:ea typeface="KaiTi"/>
                <a:cs typeface="KaiTi"/>
              </a:rPr>
              <a:t>听群言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3401568"/>
            <a:ext cx="1207008" cy="420624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2F4A40"/>
                </a:solidFill>
                <a:latin typeface="KaiTi"/>
                <a:ea typeface="KaiTi"/>
                <a:cs typeface="KaiTi"/>
              </a:rPr>
              <a:t>立风骨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4224528"/>
            <a:ext cx="0" cy="1234440"/>
          </a:xfrm>
          <a:prstGeom prst="line">
            <a:avLst/>
          </a:prstGeom>
          <a:ln w="127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88720" y="4345522"/>
            <a:ext cx="8229600" cy="992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1" dirty="0" err="1">
                <a:solidFill>
                  <a:srgbClr val="1B1916"/>
                </a:solidFill>
                <a:latin typeface="Microsoft YaHei"/>
                <a:ea typeface="Microsoft YaHei"/>
                <a:cs typeface="Microsoft YaHei"/>
              </a:rPr>
              <a:t>汇报小组：深藏blue</a:t>
            </a:r>
            <a:endParaRPr sz="1400" b="1" dirty="0">
              <a:solidFill>
                <a:srgbClr val="1B191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小组成员：张馨文、善文玲</a:t>
            </a:r>
            <a:endParaRPr sz="14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汇报日期：2026 年 10 月 13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3692483"/>
            <a:ext cx="1554480" cy="237744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3000" b="0" dirty="0">
                <a:solidFill>
                  <a:srgbClr val="DED2B8"/>
                </a:solidFill>
                <a:latin typeface="KaiTi"/>
                <a:ea typeface="KaiTi"/>
                <a:cs typeface="KaiTi"/>
              </a:rPr>
              <a:t>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66928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B1916"/>
                </a:solidFill>
                <a:latin typeface="KaiTi"/>
                <a:ea typeface="KaiTi"/>
                <a:cs typeface="KaiTi"/>
              </a:rPr>
              <a:t>目录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1188720"/>
            <a:ext cx="1033272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5840" y="1572768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9C2F26"/>
                </a:solidFill>
                <a:latin typeface="KaiTi"/>
                <a:ea typeface="KaiTi"/>
                <a:cs typeface="KaiTi"/>
              </a:rPr>
              <a:t>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00200"/>
            <a:ext cx="3657600" cy="300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75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项目定位</a:t>
            </a:r>
            <a:endParaRPr sz="175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6492240" cy="22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dirty="0" err="1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这个想法从哪来</a:t>
            </a:r>
            <a:r>
              <a:rPr sz="125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25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目标群体、使用场景是什么</a:t>
            </a:r>
            <a:endParaRPr sz="1250" b="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231136"/>
            <a:ext cx="9326879" cy="0"/>
          </a:xfrm>
          <a:prstGeom prst="line">
            <a:avLst/>
          </a:prstGeom>
          <a:ln w="9525">
            <a:solidFill>
              <a:srgbClr val="E6D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05840" y="2505456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9C2F26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5328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50" b="1">
                <a:solidFill>
                  <a:srgbClr val="1B1916"/>
                </a:solidFill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24328"/>
            <a:ext cx="6492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dirty="0" err="1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四个入口，串起一条完整的使用流程</a:t>
            </a:r>
            <a:endParaRPr sz="1250" b="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011680" y="3163824"/>
            <a:ext cx="9326879" cy="0"/>
          </a:xfrm>
          <a:prstGeom prst="line">
            <a:avLst/>
          </a:prstGeom>
          <a:ln w="9525">
            <a:solidFill>
              <a:srgbClr val="E6D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43814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9C2F26"/>
                </a:solidFill>
                <a:latin typeface="KaiTi"/>
                <a:ea typeface="KaiTi"/>
                <a:cs typeface="KaiTi"/>
              </a:rPr>
              <a:t>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46557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50" b="1">
                <a:solidFill>
                  <a:srgbClr val="1B1916"/>
                </a:solidFill>
                <a:latin typeface="KaiTi"/>
                <a:ea typeface="KaiTi"/>
                <a:cs typeface="KaiTi"/>
              </a:rPr>
              <a:t>技术实现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557016"/>
            <a:ext cx="6492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知识库放在本地，生成交给云端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11680" y="4096512"/>
            <a:ext cx="9326879" cy="0"/>
          </a:xfrm>
          <a:prstGeom prst="line">
            <a:avLst/>
          </a:prstGeom>
          <a:ln w="9525">
            <a:solidFill>
              <a:srgbClr val="E6D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5840" y="4370832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9C2F26"/>
                </a:solidFill>
                <a:latin typeface="KaiTi"/>
                <a:ea typeface="KaiTi"/>
                <a:cs typeface="KaiTi"/>
              </a:rPr>
              <a:t>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39826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50" b="1">
                <a:solidFill>
                  <a:srgbClr val="1B1916"/>
                </a:solidFill>
                <a:latin typeface="KaiTi"/>
                <a:ea typeface="KaiTi"/>
                <a:cs typeface="KaiTi"/>
              </a:rPr>
              <a:t>边界与演进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489704"/>
            <a:ext cx="6492240" cy="22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5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缺点、改进、拓展</a:t>
            </a:r>
            <a:endParaRPr sz="1250" b="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011680" y="5029200"/>
            <a:ext cx="9326879" cy="0"/>
          </a:xfrm>
          <a:prstGeom prst="line">
            <a:avLst/>
          </a:prstGeom>
          <a:ln w="9525">
            <a:solidFill>
              <a:srgbClr val="E6D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05840" y="53035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9C2F26"/>
                </a:solidFill>
                <a:latin typeface="KaiTi"/>
                <a:ea typeface="KaiTi"/>
                <a:cs typeface="KaiTi"/>
              </a:rPr>
              <a:t>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3309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50" b="1">
                <a:solidFill>
                  <a:srgbClr val="1B1916"/>
                </a:solidFill>
                <a:latin typeface="KaiTi"/>
                <a:ea typeface="KaiTi"/>
                <a:cs typeface="KaiTi"/>
              </a:rPr>
              <a:t>现场演示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422393"/>
            <a:ext cx="3429000" cy="22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dirty="0" err="1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演示一遍完整流程</a:t>
            </a:r>
            <a:endParaRPr sz="1250" b="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2011680" y="5961888"/>
            <a:ext cx="9326879" cy="0"/>
          </a:xfrm>
          <a:prstGeom prst="line">
            <a:avLst/>
          </a:prstGeom>
          <a:ln w="9525">
            <a:solidFill>
              <a:srgbClr val="E6D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87968" y="932688"/>
            <a:ext cx="1554480" cy="237744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21000" b="0">
                <a:solidFill>
                  <a:srgbClr val="DED2B8"/>
                </a:solidFill>
                <a:latin typeface="KaiTi"/>
                <a:ea typeface="KaiTi"/>
                <a:cs typeface="KaiTi"/>
              </a:rPr>
              <a:t>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33856" y="1810512"/>
            <a:ext cx="0" cy="3127248"/>
          </a:xfrm>
          <a:prstGeom prst="line">
            <a:avLst/>
          </a:prstGeom>
          <a:ln w="3175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08176" y="1810512"/>
            <a:ext cx="1280160" cy="1280160"/>
          </a:xfrm>
          <a:prstGeom prst="roundRect">
            <a:avLst>
              <a:gd name="adj" fmla="val 6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82880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CHAPTER ONE · 第一章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103120"/>
            <a:ext cx="7680960" cy="721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42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项目定位</a:t>
            </a:r>
            <a:endParaRPr sz="42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444752" y="3529584"/>
            <a:ext cx="996696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08176" y="4054856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2F4A40"/>
                </a:solidFill>
                <a:latin typeface="KaiTi"/>
                <a:ea typeface="KaiTi"/>
                <a:cs typeface="KaiTi"/>
              </a:rPr>
              <a:t>灵感来源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9504" y="4054856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2F4A40"/>
                </a:solidFill>
                <a:latin typeface="KaiTi"/>
                <a:ea typeface="KaiTi"/>
                <a:cs typeface="KaiTi"/>
              </a:rPr>
              <a:t>学习痛点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4054856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2F4A40"/>
                </a:solidFill>
                <a:latin typeface="KaiTi"/>
                <a:ea typeface="KaiTi"/>
                <a:cs typeface="KaiTi"/>
              </a:rPr>
              <a:t>项目定位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054856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2F4A40"/>
                </a:solidFill>
                <a:latin typeface="KaiTi"/>
                <a:ea typeface="KaiTi"/>
                <a:cs typeface="KaiTi"/>
              </a:rPr>
              <a:t>目标用户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4054856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2F4A40"/>
                </a:solidFill>
                <a:latin typeface="KaiTi"/>
                <a:ea typeface="KaiTi"/>
                <a:cs typeface="KaiTi"/>
              </a:rPr>
              <a:t>核心路径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456154"/>
            <a:ext cx="3310128" cy="248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lang="zh-CN" altLang="en-US" sz="1450" b="1" dirty="0">
                <a:solidFill>
                  <a:srgbClr val="453D34"/>
                </a:solidFill>
                <a:latin typeface="KaiTi"/>
                <a:ea typeface="KaiTi"/>
                <a:cs typeface="KaiTi"/>
              </a:rPr>
              <a:t>项目定位</a:t>
            </a:r>
            <a:endParaRPr sz="1450" b="1" dirty="0">
              <a:solidFill>
                <a:srgbClr val="453D34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一个会说话的孔子，能带来什么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12">
            <a:extLst>
              <a:ext uri="{FF2B5EF4-FFF2-40B4-BE49-F238E27FC236}">
                <a16:creationId xmlns:a16="http://schemas.microsoft.com/office/drawing/2014/main" id="{4753E651-FD79-C366-1857-077BB4025821}"/>
              </a:ext>
            </a:extLst>
          </p:cNvPr>
          <p:cNvSpPr/>
          <p:nvPr/>
        </p:nvSpPr>
        <p:spPr>
          <a:xfrm>
            <a:off x="574107" y="1596355"/>
            <a:ext cx="6274687" cy="3499751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216152"/>
            <a:ext cx="10424160" cy="220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灵感源自济南 </a:t>
            </a:r>
            <a:r>
              <a:rPr lang="en-US" altLang="zh-CN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9.28 </a:t>
            </a:r>
            <a:r>
              <a:rPr lang="zh-CN" altLang="en-US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米巨型 </a:t>
            </a:r>
            <a:r>
              <a:rPr lang="en-US" altLang="zh-CN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lang="zh-CN" altLang="en-US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机器人孔子互动叙事作品</a:t>
            </a:r>
            <a:r>
              <a:rPr lang="en-US" altLang="zh-CN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lang="zh-CN" altLang="en-US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子曰</a:t>
            </a:r>
            <a:r>
              <a:rPr lang="en-US" altLang="zh-CN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》—— </a:t>
            </a:r>
            <a:r>
              <a:rPr lang="zh-CN" altLang="en-US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它让千年圣贤第一次 </a:t>
            </a:r>
            <a:r>
              <a:rPr lang="en-US" altLang="zh-CN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"</a:t>
            </a:r>
            <a:r>
              <a:rPr lang="zh-CN" altLang="en-US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开口说话</a:t>
            </a:r>
            <a:r>
              <a:rPr lang="en-US" altLang="zh-CN" sz="122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"</a:t>
            </a:r>
            <a:endParaRPr sz="1220" b="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" y="1781365"/>
            <a:ext cx="5806440" cy="3896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endParaRPr sz="1600" b="1" dirty="0">
              <a:solidFill>
                <a:srgbClr val="9C2F26"/>
              </a:solidFill>
              <a:latin typeface="KaiTi"/>
              <a:ea typeface="KaiTi"/>
              <a:cs typeface="KaiTi"/>
            </a:endParaRPr>
          </a:p>
          <a:p>
            <a:pPr algn="l">
              <a:lnSpc>
                <a:spcPct val="136000"/>
              </a:lnSpc>
              <a:spcAft>
                <a:spcPts val="1000"/>
              </a:spcAft>
            </a:pP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子曰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》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打破国学静态展示、书本诵读的固有模式，以 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沉浸式人机互动与智能叙事对话，让观众直接与孔子 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"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对谈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"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。这证明：传统文化＋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交互＋沉浸叙事，是一条走得通的路</a:t>
            </a:r>
            <a:endParaRPr lang="en-US" altLang="zh-CN" sz="114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30000"/>
              </a:lnSpc>
              <a:spcAft>
                <a:spcPts val="300"/>
              </a:spcAft>
            </a:pPr>
            <a:endParaRPr sz="1600" b="1" dirty="0">
              <a:solidFill>
                <a:srgbClr val="9C2F26"/>
              </a:solidFill>
              <a:latin typeface="KaiTi"/>
              <a:ea typeface="KaiTi"/>
            </a:endParaRPr>
          </a:p>
          <a:p>
            <a:pPr algn="l">
              <a:lnSpc>
                <a:spcPct val="136000"/>
              </a:lnSpc>
              <a:spcAft>
                <a:spcPts val="1000"/>
              </a:spcAft>
            </a:pP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孔子不是只能站在博物馆里当塑像，也可以是一个随时能对话的 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"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数字先贤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"——AI 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让沉睡的 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IP 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真正活了过来。</a:t>
            </a:r>
            <a:endParaRPr sz="114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30000"/>
              </a:lnSpc>
              <a:spcAft>
                <a:spcPts val="300"/>
              </a:spcAft>
            </a:pPr>
            <a:endParaRPr sz="1600" b="1" dirty="0">
              <a:solidFill>
                <a:srgbClr val="9C2F26"/>
              </a:solidFill>
              <a:latin typeface="KaiTi"/>
              <a:ea typeface="KaiTi"/>
            </a:endParaRPr>
          </a:p>
          <a:p>
            <a:pPr algn="l">
              <a:lnSpc>
                <a:spcPct val="136000"/>
              </a:lnSpc>
              <a:spcAft>
                <a:spcPts val="1000"/>
              </a:spcAft>
            </a:pP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真正让人沉浸的是场景和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智能</a:t>
            </a: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对话</a:t>
            </a:r>
            <a:r>
              <a:rPr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若只是</a:t>
            </a:r>
            <a:r>
              <a:rPr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把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它变成电子书</a:t>
            </a:r>
            <a:r>
              <a:rPr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达不到这个效果</a:t>
            </a:r>
            <a:r>
              <a:rPr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endParaRPr sz="1600" b="1" dirty="0">
              <a:solidFill>
                <a:srgbClr val="9C2F26"/>
              </a:solidFill>
              <a:latin typeface="KaiTi"/>
              <a:ea typeface="KaiTi"/>
            </a:endParaRP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互动需要扎根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论语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》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原文与儒家典籍。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知识库有据可依，才不会误用滥用。</a:t>
            </a:r>
            <a:endParaRPr sz="114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6000"/>
              </a:lnSpc>
              <a:spcAft>
                <a:spcPts val="1000"/>
              </a:spcAft>
            </a:pPr>
            <a:endParaRPr lang="en-US" sz="114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6000"/>
              </a:lnSpc>
              <a:spcAft>
                <a:spcPts val="1000"/>
              </a:spcAft>
            </a:pPr>
            <a:endParaRPr lang="en-US" sz="114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995160" y="1595664"/>
            <a:ext cx="4389120" cy="3499751"/>
          </a:xfrm>
          <a:prstGeom prst="roundRect">
            <a:avLst>
              <a:gd name="adj" fmla="val 3000"/>
            </a:avLst>
          </a:prstGeom>
          <a:solidFill>
            <a:srgbClr val="F7F2E5"/>
          </a:solidFill>
          <a:ln w="15875">
            <a:solidFill>
              <a:srgbClr val="B08D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F66F93FA-F2D2-562D-7532-ABCA4F4D30AB}"/>
              </a:ext>
            </a:extLst>
          </p:cNvPr>
          <p:cNvSpPr/>
          <p:nvPr/>
        </p:nvSpPr>
        <p:spPr>
          <a:xfrm>
            <a:off x="804672" y="1745157"/>
            <a:ext cx="914400" cy="297089"/>
          </a:xfrm>
          <a:prstGeom prst="roundRect">
            <a:avLst>
              <a:gd name="adj" fmla="val 3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背景</a:t>
            </a:r>
            <a:endParaRPr sz="1200" b="1" dirty="0">
              <a:solidFill>
                <a:srgbClr val="FFF8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BC969E11-9B76-9216-AF08-C71986DE41DD}"/>
              </a:ext>
            </a:extLst>
          </p:cNvPr>
          <p:cNvSpPr/>
          <p:nvPr/>
        </p:nvSpPr>
        <p:spPr>
          <a:xfrm>
            <a:off x="804672" y="2722332"/>
            <a:ext cx="914400" cy="297089"/>
          </a:xfrm>
          <a:prstGeom prst="roundRect">
            <a:avLst>
              <a:gd name="adj" fmla="val 3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启发一</a:t>
            </a:r>
            <a:endParaRPr sz="1200" b="1" dirty="0">
              <a:solidFill>
                <a:srgbClr val="FFF8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6FC4E8C3-5A0D-0161-7CA6-3C5D86E805E4}"/>
              </a:ext>
            </a:extLst>
          </p:cNvPr>
          <p:cNvSpPr/>
          <p:nvPr/>
        </p:nvSpPr>
        <p:spPr>
          <a:xfrm>
            <a:off x="804672" y="3701601"/>
            <a:ext cx="914400" cy="297089"/>
          </a:xfrm>
          <a:prstGeom prst="roundRect">
            <a:avLst>
              <a:gd name="adj" fmla="val 3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启发二</a:t>
            </a:r>
            <a:endParaRPr sz="1200" b="1" dirty="0">
              <a:solidFill>
                <a:srgbClr val="FFF8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27A17696-0D57-14B9-A2C0-4786211D37B9}"/>
              </a:ext>
            </a:extLst>
          </p:cNvPr>
          <p:cNvSpPr/>
          <p:nvPr/>
        </p:nvSpPr>
        <p:spPr>
          <a:xfrm>
            <a:off x="574107" y="5527789"/>
            <a:ext cx="10947333" cy="713233"/>
          </a:xfrm>
          <a:prstGeom prst="roundRect">
            <a:avLst>
              <a:gd name="adj" fmla="val 17906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9C99465A-7F9A-C929-059E-DFB2CF6335A5}"/>
              </a:ext>
            </a:extLst>
          </p:cNvPr>
          <p:cNvSpPr/>
          <p:nvPr/>
        </p:nvSpPr>
        <p:spPr>
          <a:xfrm>
            <a:off x="804672" y="4403877"/>
            <a:ext cx="914400" cy="297089"/>
          </a:xfrm>
          <a:prstGeom prst="roundRect">
            <a:avLst>
              <a:gd name="adj" fmla="val 3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启发三</a:t>
            </a:r>
            <a:endParaRPr sz="1200" b="1" dirty="0">
              <a:solidFill>
                <a:srgbClr val="FFF8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EBF623-859C-39AD-6D6C-5C3D23EFC3A0}"/>
              </a:ext>
            </a:extLst>
          </p:cNvPr>
          <p:cNvSpPr txBox="1"/>
          <p:nvPr/>
        </p:nvSpPr>
        <p:spPr>
          <a:xfrm>
            <a:off x="640080" y="5615131"/>
            <a:ext cx="10744200" cy="544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6000"/>
              </a:lnSpc>
              <a:spcAft>
                <a:spcPts val="1000"/>
              </a:spcAft>
            </a:pP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子曰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》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是一次性的现场体验，我们把它变成随手可及的网页：不止 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看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” 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孔子，更能与先贤对话、以国学修身、</a:t>
            </a:r>
            <a:r>
              <a:rPr lang="zh-CN" altLang="en-US" sz="1140" b="0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体验创作国风内容 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—— 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打造一站式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论语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》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沉浸式学习与创作平台。</a:t>
            </a: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3F09D99C-2592-33AD-3BB7-D2866EB90B8A}"/>
              </a:ext>
            </a:extLst>
          </p:cNvPr>
          <p:cNvSpPr/>
          <p:nvPr/>
        </p:nvSpPr>
        <p:spPr>
          <a:xfrm>
            <a:off x="5795086" y="5174028"/>
            <a:ext cx="331394" cy="272571"/>
          </a:xfrm>
          <a:prstGeom prst="downArrow">
            <a:avLst/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81F33CFD-FDFF-BB44-9BE1-50A82EA55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359" y="1681451"/>
            <a:ext cx="4277615" cy="656264"/>
          </a:xfrm>
          <a:prstGeom prst="round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0F000296-B5C1-8654-E96D-013A44C5C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582" y="2409464"/>
            <a:ext cx="3882477" cy="2584273"/>
          </a:xfrm>
          <a:prstGeom prst="roundRect">
            <a:avLst>
              <a:gd name="adj" fmla="val 8148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456154"/>
            <a:ext cx="3310128" cy="248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lang="zh-CN" altLang="en-US" sz="1450" b="1" dirty="0">
                <a:solidFill>
                  <a:srgbClr val="453D34"/>
                </a:solidFill>
                <a:latin typeface="KaiTi"/>
                <a:ea typeface="KaiTi"/>
                <a:cs typeface="KaiTi"/>
              </a:rPr>
              <a:t>项目定位</a:t>
            </a:r>
            <a:endParaRPr sz="1450" b="1" dirty="0">
              <a:solidFill>
                <a:srgbClr val="453D34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今天学《论语</a:t>
            </a:r>
            <a:r>
              <a:rPr sz="26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》，</a:t>
            </a: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难在哪里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1247081"/>
            <a:ext cx="10424160" cy="18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zh-CN" sz="1220" dirty="0">
                <a:solidFill>
                  <a:srgbClr val="7C7364"/>
                </a:solidFill>
                <a:latin typeface="Microsoft YaHei"/>
                <a:ea typeface="Microsoft YaHei"/>
              </a:rPr>
              <a:t>从学习者、传播者、典籍内容三个角度来看，各自都存在现实难题</a:t>
            </a:r>
            <a:endParaRPr sz="1220" dirty="0">
              <a:solidFill>
                <a:srgbClr val="7C7364"/>
              </a:solidFill>
              <a:latin typeface="Microsoft YaHei"/>
              <a:ea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1719072"/>
            <a:ext cx="3291840" cy="3246120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1847088"/>
            <a:ext cx="50292" cy="2990087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1534" y="1865376"/>
            <a:ext cx="2836469" cy="280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24000"/>
              </a:lnSpc>
              <a:spcAft>
                <a:spcPts val="1200"/>
              </a:spcAft>
              <a:buFont typeface="+mj-lt"/>
              <a:buAutoNum type="arabicPeriod"/>
            </a:pPr>
            <a:endParaRPr lang="en-US" altLang="zh-CN" sz="116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  <a:p>
            <a:pPr marL="228600" indent="-228600" algn="l">
              <a:lnSpc>
                <a:spcPct val="124000"/>
              </a:lnSpc>
              <a:spcAft>
                <a:spcPts val="1200"/>
              </a:spcAft>
              <a:buClr>
                <a:srgbClr val="993300"/>
              </a:buClr>
              <a:buFont typeface="+mj-lt"/>
              <a:buAutoNum type="arabicPeriod"/>
            </a:pPr>
            <a:r>
              <a:rPr lang="zh-CN" altLang="en-US" sz="116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字词释义、人物背景、篇章</a:t>
            </a:r>
            <a:r>
              <a:rPr lang="zh-CN" altLang="en-US" sz="116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内容分散在各类书籍资料中</a:t>
            </a:r>
            <a:r>
              <a:rPr lang="zh-CN" altLang="en-US" sz="116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，整合阅读很麻烦。</a:t>
            </a:r>
            <a:endParaRPr lang="en-US" altLang="zh-CN" sz="116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  <a:p>
            <a:pPr marL="228600" indent="-228600">
              <a:lnSpc>
                <a:spcPct val="124000"/>
              </a:lnSpc>
              <a:spcAft>
                <a:spcPts val="1200"/>
              </a:spcAft>
              <a:buClr>
                <a:srgbClr val="993300"/>
              </a:buClr>
              <a:buFont typeface="+mj-lt"/>
              <a:buAutoNum type="arabicPeriod"/>
            </a:pPr>
            <a:r>
              <a:rPr lang="zh-CN" altLang="en-US" sz="116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遇到现实运用情景，很难快速找到</a:t>
            </a:r>
            <a:r>
              <a:rPr lang="en-US" altLang="zh-CN" sz="116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lang="zh-CN" altLang="en-US" sz="116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论语</a:t>
            </a:r>
            <a:r>
              <a:rPr lang="en-US" altLang="zh-CN" sz="116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》</a:t>
            </a:r>
            <a:r>
              <a:rPr lang="zh-CN" altLang="en-US" sz="116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中对应的参考章节。</a:t>
            </a:r>
          </a:p>
          <a:p>
            <a:pPr marL="228600" indent="-228600">
              <a:lnSpc>
                <a:spcPct val="124000"/>
              </a:lnSpc>
              <a:spcAft>
                <a:spcPts val="1200"/>
              </a:spcAft>
              <a:buClr>
                <a:srgbClr val="993300"/>
              </a:buClr>
              <a:buFont typeface="+mj-lt"/>
              <a:buAutoNum type="arabicPeriod"/>
            </a:pPr>
            <a:r>
              <a:rPr lang="zh-CN" altLang="en-US" sz="116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看不到思想思辨过程，</a:t>
            </a:r>
            <a:r>
              <a:rPr lang="zh-CN" altLang="en-US" sz="116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只了解孔子核心主张</a:t>
            </a:r>
            <a:r>
              <a:rPr lang="zh-CN" altLang="en-US" sz="116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，不了解孔门弟子之间对同一问题的不同看法。</a:t>
            </a:r>
          </a:p>
          <a:p>
            <a:pPr marL="228600" indent="-228600">
              <a:lnSpc>
                <a:spcPct val="124000"/>
              </a:lnSpc>
              <a:spcAft>
                <a:spcPts val="1200"/>
              </a:spcAft>
              <a:buClr>
                <a:srgbClr val="993300"/>
              </a:buClr>
              <a:buFont typeface="+mj-lt"/>
              <a:buAutoNum type="arabicPeriod"/>
            </a:pPr>
            <a:r>
              <a:rPr lang="zh-CN" altLang="en-US" sz="116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研读成本高</a:t>
            </a:r>
            <a:r>
              <a:rPr lang="zh-CN" altLang="en-US" sz="116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，想要深度读懂一章，往往需要翻阅多本参考书，容易半途而废。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719072"/>
            <a:ext cx="3291840" cy="3246120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1847088"/>
            <a:ext cx="50292" cy="2990087"/>
          </a:xfrm>
          <a:prstGeom prst="rect">
            <a:avLst/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0016" y="1865376"/>
            <a:ext cx="2889504" cy="286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endParaRPr sz="145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  <a:p>
            <a:pPr marL="228600" lvl="0" indent="-228600">
              <a:lnSpc>
                <a:spcPct val="124000"/>
              </a:lnSpc>
              <a:spcAft>
                <a:spcPts val="1200"/>
              </a:spcAft>
              <a:buClr>
                <a:srgbClr val="2F4A40"/>
              </a:buClr>
              <a:buFont typeface="+mj-lt"/>
              <a:buAutoNum type="arabicPeriod"/>
            </a:pP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展板、电子书、剪辑短视频大多是</a:t>
            </a:r>
            <a:r>
              <a:rPr lang="zh-CN" altLang="zh-CN" sz="1160" b="1" dirty="0">
                <a:solidFill>
                  <a:srgbClr val="2F4A40"/>
                </a:solidFill>
                <a:latin typeface="Microsoft YaHei"/>
                <a:ea typeface="Microsoft YaHei"/>
              </a:rPr>
              <a:t>单向输出</a:t>
            </a: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，很难吸引用户反复回看学习。</a:t>
            </a:r>
          </a:p>
          <a:p>
            <a:pPr marL="228600" lvl="0" indent="-228600">
              <a:lnSpc>
                <a:spcPct val="124000"/>
              </a:lnSpc>
              <a:spcAft>
                <a:spcPts val="1200"/>
              </a:spcAft>
              <a:buClr>
                <a:srgbClr val="2F4A40"/>
              </a:buClr>
              <a:buFont typeface="+mj-lt"/>
              <a:buAutoNum type="arabicPeriod"/>
            </a:pPr>
            <a:r>
              <a:rPr lang="zh-CN" altLang="zh-CN" sz="1160" b="1" dirty="0">
                <a:solidFill>
                  <a:srgbClr val="2F4A40"/>
                </a:solidFill>
                <a:latin typeface="Microsoft YaHei"/>
                <a:ea typeface="Microsoft YaHei"/>
              </a:rPr>
              <a:t>内容两极分化</a:t>
            </a: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：要么娱乐化严重，史料出处混乱；要么考据过于晦涩，普通读者难以入门。</a:t>
            </a:r>
          </a:p>
          <a:p>
            <a:pPr marL="228600" lvl="0" indent="-228600">
              <a:lnSpc>
                <a:spcPct val="124000"/>
              </a:lnSpc>
              <a:spcAft>
                <a:spcPts val="1200"/>
              </a:spcAft>
              <a:buClr>
                <a:srgbClr val="2F4A40"/>
              </a:buClr>
              <a:buFont typeface="+mj-lt"/>
              <a:buAutoNum type="arabicPeriod"/>
            </a:pPr>
            <a:r>
              <a:rPr lang="zh-CN" altLang="zh-CN" sz="1160" b="1" dirty="0">
                <a:solidFill>
                  <a:srgbClr val="2F4A40"/>
                </a:solidFill>
                <a:latin typeface="Microsoft YaHei"/>
                <a:ea typeface="Microsoft YaHei"/>
              </a:rPr>
              <a:t>静态展示居多</a:t>
            </a: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，缺少可以动手参与交互、能够产出</a:t>
            </a:r>
            <a:r>
              <a:rPr lang="zh-CN" altLang="en-US" sz="1160" dirty="0">
                <a:solidFill>
                  <a:srgbClr val="453D34"/>
                </a:solidFill>
                <a:latin typeface="Microsoft YaHei"/>
                <a:ea typeface="Microsoft YaHei"/>
              </a:rPr>
              <a:t>可视化</a:t>
            </a: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成果的形式。</a:t>
            </a:r>
          </a:p>
          <a:p>
            <a:pPr marL="228600" lvl="0" indent="-228600">
              <a:lnSpc>
                <a:spcPct val="124000"/>
              </a:lnSpc>
              <a:spcAft>
                <a:spcPts val="1200"/>
              </a:spcAft>
              <a:buClr>
                <a:srgbClr val="2F4A40"/>
              </a:buClr>
              <a:buFont typeface="+mj-lt"/>
              <a:buAutoNum type="arabicPeriod"/>
            </a:pP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不少讲解依赖讲解员临场发挥，听完就结束，没有可以留存下来的学习资料。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719072"/>
            <a:ext cx="3291840" cy="3246120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1847088"/>
            <a:ext cx="50292" cy="2990087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1896" y="1853303"/>
            <a:ext cx="2889504" cy="2579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endParaRPr sz="145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  <a:p>
            <a:pPr marL="228600" indent="-228600">
              <a:lnSpc>
                <a:spcPct val="124000"/>
              </a:lnSpc>
              <a:spcAft>
                <a:spcPts val="1200"/>
              </a:spcAft>
              <a:buClr>
                <a:srgbClr val="625418"/>
              </a:buClr>
              <a:buFont typeface="+mj-lt"/>
              <a:buAutoNum type="arabicPeriod"/>
            </a:pP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AI 大模型容易</a:t>
            </a:r>
            <a:r>
              <a:rPr lang="zh-CN" altLang="zh-CN" sz="1160" b="1" dirty="0">
                <a:solidFill>
                  <a:srgbClr val="B08D57"/>
                </a:solidFill>
                <a:latin typeface="Microsoft YaHei"/>
                <a:ea typeface="Microsoft YaHei"/>
              </a:rPr>
              <a:t>杜撰 </a:t>
            </a: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“孔子语录”，经常</a:t>
            </a:r>
            <a:r>
              <a:rPr lang="zh-CN" altLang="zh-CN" sz="1160" b="1" dirty="0">
                <a:solidFill>
                  <a:srgbClr val="B08D57"/>
                </a:solidFill>
                <a:latin typeface="Microsoft YaHei"/>
                <a:ea typeface="Microsoft YaHei"/>
              </a:rPr>
              <a:t>把后人注解当成孔子原文输出。</a:t>
            </a:r>
          </a:p>
          <a:p>
            <a:pPr marL="228600" indent="-228600">
              <a:lnSpc>
                <a:spcPct val="124000"/>
              </a:lnSpc>
              <a:spcAft>
                <a:spcPts val="1200"/>
              </a:spcAft>
              <a:buClr>
                <a:srgbClr val="625418"/>
              </a:buClr>
              <a:buFont typeface="+mj-lt"/>
              <a:buAutoNum type="arabicPeriod"/>
            </a:pP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原文、古人注解、礼制史料混在一起，各类内容来源没有做好</a:t>
            </a:r>
            <a:r>
              <a:rPr lang="zh-CN" altLang="zh-CN" sz="1160" b="1" dirty="0">
                <a:solidFill>
                  <a:srgbClr val="B08D57"/>
                </a:solidFill>
                <a:latin typeface="Microsoft YaHei"/>
                <a:ea typeface="Microsoft YaHei"/>
              </a:rPr>
              <a:t>核对区分</a:t>
            </a: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。</a:t>
            </a:r>
          </a:p>
          <a:p>
            <a:pPr marL="228600" indent="-228600">
              <a:lnSpc>
                <a:spcPct val="124000"/>
              </a:lnSpc>
              <a:spcAft>
                <a:spcPts val="1200"/>
              </a:spcAft>
              <a:buClr>
                <a:srgbClr val="625418"/>
              </a:buClr>
              <a:buFont typeface="+mj-lt"/>
              <a:buAutoNum type="arabicPeriod"/>
            </a:pPr>
            <a:r>
              <a:rPr lang="zh-CN" altLang="zh-CN" sz="1160" b="1" dirty="0">
                <a:solidFill>
                  <a:srgbClr val="B08D57"/>
                </a:solidFill>
                <a:latin typeface="Microsoft YaHei"/>
                <a:ea typeface="Microsoft YaHei"/>
              </a:rPr>
              <a:t>缺少分层知识库</a:t>
            </a: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，AI 回答看着通顺流畅，但没办法溯源查证原始典籍。</a:t>
            </a:r>
          </a:p>
          <a:p>
            <a:pPr marL="228600" indent="-228600">
              <a:lnSpc>
                <a:spcPct val="124000"/>
              </a:lnSpc>
              <a:spcAft>
                <a:spcPts val="1200"/>
              </a:spcAft>
              <a:buClr>
                <a:srgbClr val="625418"/>
              </a:buClr>
              <a:buFont typeface="+mj-lt"/>
              <a:buAutoNum type="arabicPeriod"/>
            </a:pP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后世儒生的解读，经常和孔子本人的言论放在同一层面展示，读者</a:t>
            </a:r>
            <a:r>
              <a:rPr lang="zh-CN" altLang="zh-CN" sz="1160" b="1" dirty="0">
                <a:solidFill>
                  <a:srgbClr val="B08D57"/>
                </a:solidFill>
                <a:latin typeface="Microsoft YaHei"/>
                <a:ea typeface="Microsoft YaHei"/>
              </a:rPr>
              <a:t>很难分辨</a:t>
            </a:r>
            <a:r>
              <a:rPr lang="zh-CN" altLang="zh-CN" sz="1160" dirty="0">
                <a:solidFill>
                  <a:srgbClr val="453D34"/>
                </a:solidFill>
                <a:latin typeface="Microsoft YaHei"/>
                <a:ea typeface="Microsoft YaHei"/>
              </a:rPr>
              <a:t>二者。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193792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0584" rIns="201168" bIns="100584" rtlCol="0" anchor="ctr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1250" b="1" kern="1300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用可溯源检索机制约束 </a:t>
            </a:r>
            <a:r>
              <a:rPr lang="en-US" altLang="zh-CN" sz="1250" b="1" kern="1300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lang="zh-CN" altLang="en-US" sz="1250" b="1" kern="1300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生成内容；将提问划分为读懂原文、关照现实自我、实践行动三类；引入孔门群像视角，不再只单一呈现孔子一人。</a:t>
            </a:r>
            <a:endParaRPr sz="1250" b="1" kern="1300" dirty="0">
              <a:solidFill>
                <a:srgbClr val="FFF8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66010AEB-6D88-D954-C54C-B918AE41C6A8}"/>
              </a:ext>
            </a:extLst>
          </p:cNvPr>
          <p:cNvSpPr/>
          <p:nvPr/>
        </p:nvSpPr>
        <p:spPr>
          <a:xfrm>
            <a:off x="5704546" y="1516859"/>
            <a:ext cx="935719" cy="392147"/>
          </a:xfrm>
          <a:prstGeom prst="roundRect">
            <a:avLst>
              <a:gd name="adj" fmla="val 28000"/>
            </a:avLst>
          </a:prstGeom>
          <a:solidFill>
            <a:srgbClr val="2F4A40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b="1" dirty="0">
                <a:solidFill>
                  <a:srgbClr val="FFF8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/>
                <a:ea typeface="KaiTi"/>
                <a:cs typeface="KaiTi"/>
              </a:rPr>
              <a:t>传播</a:t>
            </a:r>
            <a:endParaRPr b="1" dirty="0">
              <a:solidFill>
                <a:srgbClr val="FFF8E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/>
              <a:ea typeface="KaiTi"/>
              <a:cs typeface="KaiTi"/>
            </a:endParaRPr>
          </a:p>
        </p:txBody>
      </p:sp>
      <p:sp>
        <p:nvSpPr>
          <p:cNvPr id="26" name="Rounded Rectangle 15">
            <a:extLst>
              <a:ext uri="{FF2B5EF4-FFF2-40B4-BE49-F238E27FC236}">
                <a16:creationId xmlns:a16="http://schemas.microsoft.com/office/drawing/2014/main" id="{4759D5A5-364F-89D0-EF98-E2926C1497CE}"/>
              </a:ext>
            </a:extLst>
          </p:cNvPr>
          <p:cNvSpPr/>
          <p:nvPr/>
        </p:nvSpPr>
        <p:spPr>
          <a:xfrm>
            <a:off x="1982938" y="1555003"/>
            <a:ext cx="960120" cy="392147"/>
          </a:xfrm>
          <a:prstGeom prst="roundRect">
            <a:avLst>
              <a:gd name="adj" fmla="val 28000"/>
            </a:avLst>
          </a:prstGeom>
          <a:solidFill>
            <a:srgbClr val="9C2F26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b="1" dirty="0">
                <a:solidFill>
                  <a:srgbClr val="FFF8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/>
                <a:ea typeface="KaiTi"/>
                <a:cs typeface="KaiTi"/>
              </a:rPr>
              <a:t>学习者</a:t>
            </a:r>
            <a:endParaRPr b="1" dirty="0">
              <a:solidFill>
                <a:srgbClr val="FFF8E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/>
              <a:ea typeface="KaiTi"/>
              <a:cs typeface="KaiTi"/>
            </a:endParaRPr>
          </a:p>
        </p:txBody>
      </p:sp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8266C03E-D7DD-F365-DCF7-6B6A6504DBD0}"/>
              </a:ext>
            </a:extLst>
          </p:cNvPr>
          <p:cNvSpPr/>
          <p:nvPr/>
        </p:nvSpPr>
        <p:spPr>
          <a:xfrm>
            <a:off x="9276588" y="1563102"/>
            <a:ext cx="960120" cy="384048"/>
          </a:xfrm>
          <a:prstGeom prst="roundRect">
            <a:avLst>
              <a:gd name="adj" fmla="val 28000"/>
            </a:avLst>
          </a:prstGeom>
          <a:solidFill>
            <a:srgbClr val="B08D57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b="1" dirty="0">
                <a:solidFill>
                  <a:srgbClr val="FFF8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/>
                <a:ea typeface="KaiTi"/>
                <a:cs typeface="KaiTi"/>
              </a:rPr>
              <a:t>内容</a:t>
            </a:r>
            <a:endParaRPr b="1" dirty="0">
              <a:solidFill>
                <a:srgbClr val="FFF8E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/>
              <a:ea typeface="KaiTi"/>
              <a:cs typeface="KaiT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456154"/>
            <a:ext cx="3310128" cy="248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lang="zh-CN" altLang="en-US" sz="1450" b="1" dirty="0">
                <a:solidFill>
                  <a:srgbClr val="453D34"/>
                </a:solidFill>
                <a:latin typeface="KaiTi"/>
                <a:ea typeface="KaiTi"/>
                <a:cs typeface="KaiTi"/>
              </a:rPr>
              <a:t>项目定位</a:t>
            </a:r>
            <a:endParaRPr sz="1450" b="1" dirty="0">
              <a:solidFill>
                <a:srgbClr val="453D34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项目定位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1408176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0584" rIns="201168" bIns="100584" rtlCol="0" anchor="ctr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dirty="0" err="1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读完一本《论语</a:t>
            </a:r>
            <a:r>
              <a:rPr sz="1400" b="1" dirty="0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》，</a:t>
            </a:r>
            <a:r>
              <a:rPr sz="1400" b="1" dirty="0" err="1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还能接着提问、和孔门</a:t>
            </a:r>
            <a:r>
              <a:rPr lang="zh-CN" altLang="en-US" sz="1400" b="1" dirty="0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圣贤们</a:t>
            </a:r>
            <a:r>
              <a:rPr sz="1400" b="1" dirty="0" err="1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聊两句，最后</a:t>
            </a:r>
            <a:r>
              <a:rPr lang="zh-CN" altLang="en-US" sz="1400" b="1" dirty="0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支持定制属于自己的古风数字人形象</a:t>
            </a:r>
            <a:r>
              <a:rPr sz="1400" b="1" dirty="0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487168"/>
            <a:ext cx="10515600" cy="603504"/>
          </a:xfrm>
          <a:prstGeom prst="rect">
            <a:avLst/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5" y="2653402"/>
            <a:ext cx="1952243" cy="271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lang="zh-CN" altLang="en-US" sz="1600" b="1" dirty="0">
                <a:solidFill>
                  <a:srgbClr val="FFF8EE"/>
                </a:solidFill>
                <a:latin typeface="KaiTi"/>
                <a:ea typeface="KaiTi"/>
                <a:cs typeface="KaiTi"/>
              </a:rPr>
              <a:t>功能模块</a:t>
            </a:r>
            <a:endParaRPr sz="1600" b="1" dirty="0">
              <a:solidFill>
                <a:srgbClr val="FFF8EE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4972" y="2653402"/>
            <a:ext cx="8051292" cy="271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zh-CN" altLang="en-US" sz="1600" b="1" dirty="0">
                <a:solidFill>
                  <a:srgbClr val="FFF8EE"/>
                </a:solidFill>
                <a:latin typeface="KaiTi"/>
                <a:ea typeface="KaiTi"/>
                <a:cs typeface="KaiTi"/>
              </a:rPr>
              <a:t>用户可以获得</a:t>
            </a:r>
            <a:r>
              <a:rPr sz="1600" b="1" dirty="0" err="1">
                <a:solidFill>
                  <a:srgbClr val="FFF8EE"/>
                </a:solidFill>
                <a:latin typeface="KaiTi"/>
                <a:ea typeface="KaiTi"/>
                <a:cs typeface="KaiTi"/>
              </a:rPr>
              <a:t>什么</a:t>
            </a:r>
            <a:endParaRPr sz="1600" b="1" dirty="0">
              <a:solidFill>
                <a:srgbClr val="FFF8EE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68680" y="3090672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68680" y="3090672"/>
            <a:ext cx="10515600" cy="603504"/>
          </a:xfrm>
          <a:prstGeom prst="rect">
            <a:avLst/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5" y="3145536"/>
            <a:ext cx="195224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典藏书库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4972" y="3145536"/>
            <a:ext cx="805129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竖排卷轴式阅读</a:t>
            </a:r>
            <a:r>
              <a:rPr sz="12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2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原典</a:t>
            </a:r>
            <a:r>
              <a:rPr sz="12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注疏、礼书与史传，按五类上架</a:t>
            </a:r>
            <a:endParaRPr sz="12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68680" y="3694176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68680" y="3694176"/>
            <a:ext cx="10515600" cy="603504"/>
          </a:xfrm>
          <a:prstGeom prst="rect">
            <a:avLst/>
          </a:prstGeom>
          <a:solidFill>
            <a:srgbClr val="F9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5" y="3749039"/>
            <a:ext cx="195224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智能问答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4972" y="3888974"/>
            <a:ext cx="8051292" cy="213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zh-CN" altLang="en-US" sz="12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支持研读典籍、反思内心、实践修身三类提问方式，所有回答附带典籍溯源依据</a:t>
            </a:r>
            <a:endParaRPr sz="12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868680" y="4297680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68680" y="4297680"/>
            <a:ext cx="10515600" cy="603504"/>
          </a:xfrm>
          <a:prstGeom prst="rect">
            <a:avLst/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5" y="4352544"/>
            <a:ext cx="195224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先贤对话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4972" y="4507099"/>
            <a:ext cx="805129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200" dirty="0">
                <a:solidFill>
                  <a:srgbClr val="453D34"/>
                </a:solidFill>
                <a:latin typeface="Microsoft YaHei"/>
                <a:ea typeface="Microsoft YaHei"/>
              </a:rPr>
              <a:t>可以和孔子以及 16 位孔门弟子聊天，既可以多人围坐群聊，也可以单独一对一交谈</a:t>
            </a:r>
            <a:endParaRPr sz="120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868680" y="4901184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68680" y="4901184"/>
            <a:ext cx="10515600" cy="603504"/>
          </a:xfrm>
          <a:prstGeom prst="rect">
            <a:avLst/>
          </a:prstGeom>
          <a:solidFill>
            <a:srgbClr val="F9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6695" y="4956048"/>
            <a:ext cx="195224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风骨创作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4972" y="5110603"/>
            <a:ext cx="805129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200" dirty="0">
                <a:solidFill>
                  <a:srgbClr val="453D34"/>
                </a:solidFill>
                <a:latin typeface="Microsoft YaHei"/>
                <a:ea typeface="Microsoft YaHei"/>
              </a:rPr>
              <a:t>生成贴合儒家五德理念的人物设定、古风形象，还能</a:t>
            </a:r>
            <a:r>
              <a:rPr lang="zh-CN" altLang="en-US" sz="1200" dirty="0">
                <a:solidFill>
                  <a:srgbClr val="453D34"/>
                </a:solidFill>
                <a:latin typeface="Microsoft YaHei"/>
                <a:ea typeface="Microsoft YaHei"/>
              </a:rPr>
              <a:t>克隆</a:t>
            </a:r>
            <a:r>
              <a:rPr lang="zh-CN" altLang="zh-CN" sz="1200" dirty="0">
                <a:solidFill>
                  <a:srgbClr val="453D34"/>
                </a:solidFill>
                <a:latin typeface="Microsoft YaHei"/>
                <a:ea typeface="Microsoft YaHei"/>
              </a:rPr>
              <a:t>专属音色，产出</a:t>
            </a:r>
            <a:r>
              <a:rPr lang="zh-CN" altLang="en-US" sz="1200" dirty="0">
                <a:solidFill>
                  <a:srgbClr val="453D34"/>
                </a:solidFill>
                <a:latin typeface="Microsoft YaHei"/>
                <a:ea typeface="Microsoft YaHei"/>
              </a:rPr>
              <a:t>专属自己的数字人</a:t>
            </a:r>
            <a:r>
              <a:rPr lang="zh-CN" altLang="zh-CN" sz="1200" dirty="0">
                <a:solidFill>
                  <a:srgbClr val="453D34"/>
                </a:solidFill>
                <a:latin typeface="Microsoft YaHei"/>
                <a:ea typeface="Microsoft YaHei"/>
              </a:rPr>
              <a:t>短视频</a:t>
            </a:r>
            <a:endParaRPr sz="120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868680" y="5504688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68680" y="5504688"/>
            <a:ext cx="10515600" cy="603504"/>
          </a:xfrm>
          <a:prstGeom prst="rect">
            <a:avLst/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5" y="5559552"/>
            <a:ext cx="1952243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个人中心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4972" y="5699487"/>
            <a:ext cx="8051292" cy="2139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账号登录</a:t>
            </a:r>
            <a:r>
              <a:rPr sz="12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20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保存聊天记录</a:t>
            </a:r>
            <a:r>
              <a:rPr sz="12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zh-CN" altLang="en-US" sz="12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问答记录</a:t>
            </a:r>
            <a:r>
              <a:rPr lang="zh-CN" altLang="en-US" sz="120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、典籍</a:t>
            </a:r>
            <a:r>
              <a:rPr sz="120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收藏记录</a:t>
            </a:r>
            <a:endParaRPr sz="12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868680" y="6108192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456154"/>
            <a:ext cx="3310128" cy="2489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lang="zh-CN" altLang="en-US" sz="1450" b="1" dirty="0">
                <a:solidFill>
                  <a:srgbClr val="453D34"/>
                </a:solidFill>
                <a:latin typeface="KaiTi"/>
                <a:ea typeface="KaiTi"/>
                <a:cs typeface="KaiTi"/>
              </a:rPr>
              <a:t>项目定位</a:t>
            </a:r>
            <a:endParaRPr sz="1450" b="1" dirty="0">
              <a:solidFill>
                <a:srgbClr val="453D34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26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目标用户 </a:t>
            </a:r>
            <a:r>
              <a:rPr lang="en-US" altLang="zh-CN" sz="26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&amp; </a:t>
            </a:r>
            <a:r>
              <a:rPr lang="zh-CN" altLang="en-US" sz="26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使用场景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68680" y="1408176"/>
            <a:ext cx="10515600" cy="640080"/>
          </a:xfrm>
          <a:prstGeom prst="rect">
            <a:avLst/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1592698"/>
            <a:ext cx="1942684" cy="271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600" b="1" dirty="0" err="1">
                <a:solidFill>
                  <a:srgbClr val="FFF8EE"/>
                </a:solidFill>
                <a:latin typeface="KaiTi"/>
                <a:ea typeface="KaiTi"/>
                <a:cs typeface="KaiTi"/>
              </a:rPr>
              <a:t>目标群体</a:t>
            </a:r>
            <a:endParaRPr sz="1600" b="1" dirty="0">
              <a:solidFill>
                <a:srgbClr val="FFF8EE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95412" y="1592698"/>
            <a:ext cx="3281033" cy="271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zh-CN" altLang="en-US" sz="1600" b="1" dirty="0">
                <a:solidFill>
                  <a:srgbClr val="FFF8EE"/>
                </a:solidFill>
                <a:latin typeface="KaiTi"/>
                <a:ea typeface="KaiTi"/>
                <a:cs typeface="KaiTi"/>
              </a:rPr>
              <a:t>用户需求</a:t>
            </a:r>
            <a:endParaRPr sz="1600" b="1" dirty="0">
              <a:solidFill>
                <a:srgbClr val="FFF8EE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32477" y="1592698"/>
            <a:ext cx="4523786" cy="271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zh-CN" altLang="en-US" sz="1600" b="1" dirty="0">
                <a:solidFill>
                  <a:srgbClr val="FFF8EE"/>
                </a:solidFill>
                <a:latin typeface="KaiTi"/>
                <a:ea typeface="KaiTi"/>
                <a:cs typeface="KaiTi"/>
              </a:rPr>
              <a:t>平台对应功能</a:t>
            </a:r>
            <a:endParaRPr sz="1600" b="1" dirty="0">
              <a:solidFill>
                <a:srgbClr val="FFF8EE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68680" y="2048256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68680" y="2048256"/>
            <a:ext cx="10515600" cy="640080"/>
          </a:xfrm>
          <a:prstGeom prst="rect">
            <a:avLst/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5" y="2103120"/>
            <a:ext cx="194268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青少年与研学团队</a:t>
            </a:r>
            <a:endParaRPr sz="114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95412" y="2266665"/>
            <a:ext cx="3281033" cy="2032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完成</a:t>
            </a: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课堂任务</a:t>
            </a:r>
            <a:r>
              <a:rPr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初次</a:t>
            </a: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接触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学习</a:t>
            </a:r>
            <a:r>
              <a:rPr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论语</a:t>
            </a:r>
            <a:r>
              <a:rPr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2477" y="2266665"/>
            <a:ext cx="4523786" cy="2032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每日名句</a:t>
            </a:r>
            <a:r>
              <a:rPr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典籍</a:t>
            </a: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翻阅、治学答疑、先贤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对话</a:t>
            </a:r>
            <a:endParaRPr sz="114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68680" y="2688336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68680" y="2688336"/>
            <a:ext cx="10515600" cy="640080"/>
          </a:xfrm>
          <a:prstGeom prst="rect">
            <a:avLst/>
          </a:prstGeom>
          <a:solidFill>
            <a:srgbClr val="F9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5" y="2920659"/>
            <a:ext cx="1942684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国学爱好者与自学人群</a:t>
            </a:r>
            <a:endParaRPr sz="114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95412" y="2920659"/>
            <a:ext cx="3281033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对照古籍注解，深究语句真实含义</a:t>
            </a:r>
            <a:endParaRPr sz="114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32477" y="2920659"/>
            <a:ext cx="4523786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多层级典籍文库、治学问答模式、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引用</a:t>
            </a:r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出处卡片</a:t>
            </a:r>
            <a:endParaRPr sz="114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868680" y="3328416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68680" y="3328416"/>
            <a:ext cx="10515600" cy="640080"/>
          </a:xfrm>
          <a:prstGeom prst="rect">
            <a:avLst/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6695" y="3560739"/>
            <a:ext cx="1942684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存在现实情绪困扰的读者</a:t>
            </a:r>
            <a:endParaRPr sz="114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95412" y="3560739"/>
            <a:ext cx="3281033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面对攀比、焦虑、人际矛盾、拖延等现实问题</a:t>
            </a:r>
            <a:endParaRPr sz="114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32477" y="3560739"/>
            <a:ext cx="4523786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修心、修身问答模式：先理解现实处境，再结合典籍给出参考</a:t>
            </a:r>
            <a:endParaRPr sz="114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868680" y="3968496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68680" y="3968496"/>
            <a:ext cx="10515600" cy="640080"/>
          </a:xfrm>
          <a:prstGeom prst="rect">
            <a:avLst/>
          </a:prstGeom>
          <a:solidFill>
            <a:srgbClr val="F9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6695" y="4200819"/>
            <a:ext cx="1942684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教师与科普讲解员</a:t>
            </a:r>
            <a:endParaRPr sz="114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95412" y="4200819"/>
            <a:ext cx="3281033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获取可引用、可课堂展示的教学素材</a:t>
            </a:r>
            <a:endParaRPr sz="114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32477" y="4200819"/>
            <a:ext cx="4523786" cy="175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回答附带完整典籍篇目与原文摘录，方便直接引用</a:t>
            </a:r>
            <a:endParaRPr sz="114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2F936DD7-1D3A-5084-7D75-7E64E1759336}"/>
              </a:ext>
            </a:extLst>
          </p:cNvPr>
          <p:cNvSpPr/>
          <p:nvPr/>
        </p:nvSpPr>
        <p:spPr>
          <a:xfrm>
            <a:off x="868681" y="5056107"/>
            <a:ext cx="10515600" cy="924067"/>
          </a:xfrm>
          <a:prstGeom prst="roundRect">
            <a:avLst>
              <a:gd name="adj" fmla="val 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cxnSp>
        <p:nvCxnSpPr>
          <p:cNvPr id="36" name="Connector 35"/>
          <p:cNvCxnSpPr/>
          <p:nvPr/>
        </p:nvCxnSpPr>
        <p:spPr>
          <a:xfrm>
            <a:off x="868680" y="4608576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133857" y="5321379"/>
            <a:ext cx="1391027" cy="438912"/>
          </a:xfrm>
          <a:prstGeom prst="roundRect">
            <a:avLst>
              <a:gd name="adj" fmla="val 50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 dirty="0" err="1">
                <a:solidFill>
                  <a:srgbClr val="9C2F26"/>
                </a:solidFill>
                <a:latin typeface="KaiTi"/>
                <a:ea typeface="KaiTi"/>
                <a:cs typeface="KaiTi"/>
              </a:rPr>
              <a:t>课前导入</a:t>
            </a:r>
            <a:endParaRPr sz="1600" b="0" dirty="0">
              <a:solidFill>
                <a:srgbClr val="9C2F26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758395" y="5321458"/>
            <a:ext cx="1391027" cy="438912"/>
          </a:xfrm>
          <a:prstGeom prst="roundRect">
            <a:avLst>
              <a:gd name="adj" fmla="val 50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 dirty="0" err="1">
                <a:solidFill>
                  <a:srgbClr val="9C2F26"/>
                </a:solidFill>
                <a:latin typeface="KaiTi"/>
                <a:ea typeface="KaiTi"/>
                <a:cs typeface="KaiTi"/>
              </a:rPr>
              <a:t>精读课</a:t>
            </a:r>
            <a:endParaRPr sz="1600" b="0" dirty="0">
              <a:solidFill>
                <a:srgbClr val="9C2F26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382933" y="5321379"/>
            <a:ext cx="1391027" cy="438912"/>
          </a:xfrm>
          <a:prstGeom prst="roundRect">
            <a:avLst>
              <a:gd name="adj" fmla="val 50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 dirty="0" err="1">
                <a:solidFill>
                  <a:srgbClr val="9C2F26"/>
                </a:solidFill>
                <a:latin typeface="KaiTi"/>
                <a:ea typeface="KaiTi"/>
                <a:cs typeface="KaiTi"/>
              </a:rPr>
              <a:t>讨论课</a:t>
            </a:r>
            <a:endParaRPr sz="1600" b="0" dirty="0">
              <a:solidFill>
                <a:srgbClr val="9C2F26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036963" y="5321379"/>
            <a:ext cx="1391027" cy="438912"/>
          </a:xfrm>
          <a:prstGeom prst="roundRect">
            <a:avLst>
              <a:gd name="adj" fmla="val 50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 dirty="0" err="1">
                <a:solidFill>
                  <a:srgbClr val="9C2F26"/>
                </a:solidFill>
                <a:latin typeface="KaiTi"/>
                <a:ea typeface="KaiTi"/>
                <a:cs typeface="KaiTi"/>
              </a:rPr>
              <a:t>独处自修</a:t>
            </a:r>
            <a:endParaRPr sz="1600" b="0" dirty="0">
              <a:solidFill>
                <a:srgbClr val="9C2F26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690993" y="5321379"/>
            <a:ext cx="1479356" cy="438912"/>
          </a:xfrm>
          <a:prstGeom prst="roundRect">
            <a:avLst>
              <a:gd name="adj" fmla="val 50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 dirty="0" err="1">
                <a:solidFill>
                  <a:srgbClr val="9C2F26"/>
                </a:solidFill>
                <a:latin typeface="KaiTi"/>
                <a:ea typeface="KaiTi"/>
                <a:cs typeface="KaiTi"/>
              </a:rPr>
              <a:t>研学成果输出</a:t>
            </a:r>
            <a:endParaRPr sz="1600" b="0" dirty="0">
              <a:solidFill>
                <a:srgbClr val="9C2F26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433352" y="5321379"/>
            <a:ext cx="1391027" cy="438912"/>
          </a:xfrm>
          <a:prstGeom prst="roundRect">
            <a:avLst>
              <a:gd name="adj" fmla="val 50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 dirty="0" err="1">
                <a:solidFill>
                  <a:srgbClr val="9C2F26"/>
                </a:solidFill>
                <a:latin typeface="KaiTi"/>
                <a:ea typeface="KaiTi"/>
                <a:cs typeface="KaiTi"/>
              </a:rPr>
              <a:t>展陈互动</a:t>
            </a:r>
            <a:endParaRPr sz="1600" b="0" dirty="0">
              <a:solidFill>
                <a:srgbClr val="9C2F26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46" name="Rounded Rectangle 14">
            <a:extLst>
              <a:ext uri="{FF2B5EF4-FFF2-40B4-BE49-F238E27FC236}">
                <a16:creationId xmlns:a16="http://schemas.microsoft.com/office/drawing/2014/main" id="{987D0039-1FA5-7C94-5D1A-CCF1A491A81E}"/>
              </a:ext>
            </a:extLst>
          </p:cNvPr>
          <p:cNvSpPr/>
          <p:nvPr/>
        </p:nvSpPr>
        <p:spPr>
          <a:xfrm>
            <a:off x="5384846" y="4898942"/>
            <a:ext cx="1483268" cy="297089"/>
          </a:xfrm>
          <a:prstGeom prst="roundRect">
            <a:avLst>
              <a:gd name="adj" fmla="val 3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六类使用场合</a:t>
            </a:r>
            <a:endParaRPr sz="1200" b="1" dirty="0">
              <a:solidFill>
                <a:srgbClr val="FFF8EE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87968" y="932688"/>
            <a:ext cx="1554480" cy="237744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21000" b="0">
                <a:solidFill>
                  <a:srgbClr val="DED2B8"/>
                </a:solidFill>
                <a:latin typeface="KaiTi"/>
                <a:ea typeface="KaiTi"/>
                <a:cs typeface="KaiTi"/>
              </a:rPr>
              <a:t>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33856" y="1810512"/>
            <a:ext cx="0" cy="3127248"/>
          </a:xfrm>
          <a:prstGeom prst="line">
            <a:avLst/>
          </a:prstGeom>
          <a:ln w="3175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08176" y="1810512"/>
            <a:ext cx="1280160" cy="1280160"/>
          </a:xfrm>
          <a:prstGeom prst="roundRect">
            <a:avLst>
              <a:gd name="adj" fmla="val 6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60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82880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CHAPTER TWO · 第二章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103120"/>
            <a:ext cx="7680960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200" b="1">
                <a:solidFill>
                  <a:srgbClr val="1B1916"/>
                </a:solidFill>
                <a:latin typeface="KaiTi"/>
                <a:ea typeface="KaiTi"/>
                <a:cs typeface="KaiTi"/>
              </a:rPr>
              <a:t>功能全景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4752" y="3529584"/>
            <a:ext cx="996696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44752" y="3798823"/>
            <a:ext cx="91440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2F4A40"/>
                </a:solidFill>
                <a:latin typeface="KaiTi"/>
                <a:ea typeface="KaiTi"/>
                <a:cs typeface="KaiTi"/>
              </a:rPr>
              <a:t>首页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798823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600" b="1" dirty="0">
                <a:solidFill>
                  <a:srgbClr val="2F4A40"/>
                </a:solidFill>
                <a:latin typeface="KaiTi"/>
                <a:ea typeface="KaiTi"/>
                <a:cs typeface="KaiTi"/>
              </a:rPr>
              <a:t>典籍</a:t>
            </a:r>
            <a:r>
              <a:rPr sz="1600" b="1" dirty="0" err="1">
                <a:solidFill>
                  <a:srgbClr val="2F4A40"/>
                </a:solidFill>
                <a:latin typeface="KaiTi"/>
                <a:ea typeface="KaiTi"/>
                <a:cs typeface="KaiTi"/>
              </a:rPr>
              <a:t>书库</a:t>
            </a:r>
            <a:endParaRPr sz="1600" b="1" dirty="0">
              <a:solidFill>
                <a:srgbClr val="2F4A40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041648" y="3798823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dirty="0" err="1">
                <a:solidFill>
                  <a:srgbClr val="2F4A40"/>
                </a:solidFill>
                <a:latin typeface="KaiTi"/>
                <a:ea typeface="KaiTi"/>
                <a:cs typeface="KaiTi"/>
              </a:rPr>
              <a:t>智能问答</a:t>
            </a:r>
            <a:endParaRPr sz="1600" b="1" dirty="0">
              <a:solidFill>
                <a:srgbClr val="2F4A40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522976" y="3798823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600" b="1" dirty="0">
                <a:solidFill>
                  <a:srgbClr val="2F4A40"/>
                </a:solidFill>
                <a:latin typeface="KaiTi"/>
                <a:ea typeface="KaiTi"/>
                <a:cs typeface="KaiTi"/>
              </a:rPr>
              <a:t>先贤</a:t>
            </a:r>
            <a:r>
              <a:rPr sz="1600" b="1" dirty="0" err="1">
                <a:solidFill>
                  <a:srgbClr val="2F4A40"/>
                </a:solidFill>
                <a:latin typeface="KaiTi"/>
                <a:ea typeface="KaiTi"/>
                <a:cs typeface="KaiTi"/>
              </a:rPr>
              <a:t>对话</a:t>
            </a:r>
            <a:endParaRPr sz="1600" b="1" dirty="0">
              <a:solidFill>
                <a:srgbClr val="2F4A40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004304" y="3798823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1" dirty="0" err="1">
                <a:solidFill>
                  <a:srgbClr val="2F4A40"/>
                </a:solidFill>
                <a:latin typeface="KaiTi"/>
                <a:ea typeface="KaiTi"/>
                <a:cs typeface="KaiTi"/>
              </a:rPr>
              <a:t>创作</a:t>
            </a:r>
            <a:r>
              <a:rPr lang="zh-CN" altLang="en-US" sz="1600" b="1" dirty="0">
                <a:solidFill>
                  <a:srgbClr val="2F4A40"/>
                </a:solidFill>
                <a:latin typeface="KaiTi"/>
                <a:ea typeface="KaiTi"/>
                <a:cs typeface="KaiTi"/>
              </a:rPr>
              <a:t>数字人</a:t>
            </a:r>
            <a:endParaRPr sz="1600" b="1" dirty="0">
              <a:solidFill>
                <a:srgbClr val="2F4A40"/>
              </a:solidFill>
              <a:latin typeface="KaiTi"/>
              <a:ea typeface="KaiTi"/>
              <a:cs typeface="KaiT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453D34"/>
                </a:solidFill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功能全景：五</a:t>
            </a:r>
            <a:r>
              <a:rPr lang="zh-CN" altLang="en-US" sz="26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大</a:t>
            </a: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模块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2576728"/>
            <a:ext cx="3291840" cy="2057400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2704744"/>
            <a:ext cx="50292" cy="1801368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" y="2723032"/>
            <a:ext cx="2889504" cy="104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450" b="1" dirty="0">
                <a:solidFill>
                  <a:srgbClr val="9C2F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典籍</a:t>
            </a:r>
            <a:r>
              <a:rPr sz="1450" b="1" dirty="0" err="1">
                <a:solidFill>
                  <a:srgbClr val="9C2F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书库</a:t>
            </a:r>
            <a:endParaRPr sz="1450" b="1" dirty="0">
              <a:solidFill>
                <a:srgbClr val="9C2F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KaiTi"/>
            </a:endParaRPr>
          </a:p>
          <a:p>
            <a:pPr algn="just">
              <a:lnSpc>
                <a:spcPct val="134000"/>
              </a:lnSpc>
              <a:spcAft>
                <a:spcPts val="400"/>
              </a:spcAft>
            </a:pP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收录原典、历代注解、礼制典籍、相关史传、孔门家语</a:t>
            </a:r>
            <a:r>
              <a:rPr lang="zh-CN" altLang="en-US" sz="1140" b="1" dirty="0">
                <a:solidFill>
                  <a:srgbClr val="9C2F26"/>
                </a:solidFill>
                <a:latin typeface="Microsoft YaHei"/>
                <a:ea typeface="Microsoft YaHei"/>
              </a:rPr>
              <a:t>五类典籍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；采用竖版卷轴阅读方式，可以按照书名、注家筛选查阅。</a:t>
            </a:r>
            <a:endParaRPr sz="1140" dirty="0">
              <a:solidFill>
                <a:srgbClr val="453D34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540" y="3730393"/>
            <a:ext cx="1463040" cy="750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sz="4400" b="1" dirty="0">
                <a:solidFill>
                  <a:srgbClr val="9C2F26"/>
                </a:solidFill>
                <a:latin typeface="方正舒体" panose="02010601030101010101" pitchFamily="2" charset="-122"/>
                <a:ea typeface="方正舒体" panose="02010601030101010101" pitchFamily="2" charset="-122"/>
                <a:cs typeface="KaiTi"/>
              </a:rPr>
              <a:t>584</a:t>
            </a:r>
            <a:endParaRPr sz="4400" b="1" dirty="0">
              <a:solidFill>
                <a:srgbClr val="9C2F26"/>
              </a:solidFill>
              <a:latin typeface="方正舒体" panose="02010601030101010101" pitchFamily="2" charset="-122"/>
              <a:ea typeface="方正舒体" panose="02010601030101010101" pitchFamily="2" charset="-122"/>
              <a:cs typeface="KaiT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60767" y="4149962"/>
            <a:ext cx="1828800" cy="216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0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篇</a:t>
            </a:r>
            <a:endParaRPr sz="1200" b="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80560" y="2576728"/>
            <a:ext cx="3291840" cy="2057400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60" y="2704744"/>
            <a:ext cx="50292" cy="1801368"/>
          </a:xfrm>
          <a:prstGeom prst="rect">
            <a:avLst/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0016" y="2723032"/>
            <a:ext cx="2889504" cy="104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50" b="1" dirty="0" err="1">
                <a:solidFill>
                  <a:srgbClr val="2F4A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智能问答</a:t>
            </a:r>
            <a:endParaRPr sz="1450" b="1" dirty="0">
              <a:solidFill>
                <a:srgbClr val="2F4A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4000"/>
              </a:lnSpc>
              <a:spcAft>
                <a:spcPts val="400"/>
              </a:spcAft>
            </a:pP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基于同一套典籍知识库，提供 </a:t>
            </a:r>
            <a:r>
              <a:rPr lang="en-US" altLang="zh-CN" sz="114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3 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种问答模式：</a:t>
            </a:r>
            <a:r>
              <a:rPr sz="1140" b="1" dirty="0" err="1">
                <a:solidFill>
                  <a:srgbClr val="2F4A40"/>
                </a:solidFill>
                <a:latin typeface="Microsoft YaHei"/>
                <a:ea typeface="Microsoft YaHei"/>
                <a:cs typeface="Microsoft YaHei"/>
              </a:rPr>
              <a:t>治学</a:t>
            </a: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回答怎么理解，</a:t>
            </a:r>
            <a:r>
              <a:rPr sz="1140" b="1" dirty="0" err="1">
                <a:solidFill>
                  <a:srgbClr val="2F4A40"/>
                </a:solidFill>
                <a:latin typeface="Microsoft YaHei"/>
                <a:ea typeface="Microsoft YaHei"/>
                <a:cs typeface="Microsoft YaHei"/>
              </a:rPr>
              <a:t>修心</a:t>
            </a: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回答怎么看自己，</a:t>
            </a:r>
            <a:r>
              <a:rPr sz="1140" b="1" dirty="0" err="1">
                <a:solidFill>
                  <a:srgbClr val="2F4A40"/>
                </a:solidFill>
                <a:latin typeface="Microsoft YaHei"/>
                <a:ea typeface="Microsoft YaHei"/>
                <a:cs typeface="Microsoft YaHei"/>
              </a:rPr>
              <a:t>修身</a:t>
            </a:r>
            <a:r>
              <a:rPr sz="114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回答怎么去做</a:t>
            </a:r>
            <a:r>
              <a:rPr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3662170"/>
            <a:ext cx="1463040" cy="81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4800" b="1" dirty="0">
                <a:solidFill>
                  <a:srgbClr val="2F4A4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447" y="4129421"/>
            <a:ext cx="1828800" cy="216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种</a:t>
            </a:r>
            <a:r>
              <a:rPr lang="zh-CN" altLang="en-US" sz="120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模式</a:t>
            </a:r>
            <a:endParaRPr sz="1200" b="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092440" y="2576728"/>
            <a:ext cx="3291840" cy="2057400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2704744"/>
            <a:ext cx="50292" cy="180136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11896" y="2723032"/>
            <a:ext cx="2889504" cy="104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50" b="1" dirty="0" err="1">
                <a:solidFill>
                  <a:srgbClr val="B08D5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先贤对话</a:t>
            </a:r>
            <a:endParaRPr sz="1450" b="1" dirty="0">
              <a:solidFill>
                <a:srgbClr val="B08D5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包含孔子以及 </a:t>
            </a:r>
            <a:r>
              <a:rPr lang="en-US" altLang="zh-CN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16 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位孔门弟子，每位人物都有独立的</a:t>
            </a:r>
            <a:r>
              <a:rPr lang="zh-CN" altLang="en-US" sz="1140" b="1" dirty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人物设定</a:t>
            </a:r>
            <a:r>
              <a:rPr lang="zh-CN" altLang="en-US" sz="114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；既可以开启多人围坐群聊，也可以挑选人物一对一单独对话。</a:t>
            </a:r>
            <a:endParaRPr sz="114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97245" y="3662170"/>
            <a:ext cx="1463040" cy="81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800" b="1" dirty="0">
                <a:solidFill>
                  <a:srgbClr val="B08D57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4788" y="4129421"/>
            <a:ext cx="1828800" cy="216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dirty="0" err="1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位先贤</a:t>
            </a:r>
            <a:endParaRPr sz="1200" b="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68680" y="4771288"/>
            <a:ext cx="5074920" cy="1347575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" y="4899303"/>
            <a:ext cx="50292" cy="1148985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8136" y="4926736"/>
            <a:ext cx="3246120" cy="827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50" b="1" dirty="0" err="1">
                <a:solidFill>
                  <a:srgbClr val="9C2F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风骨创作</a:t>
            </a:r>
            <a:endParaRPr sz="1450" b="1" dirty="0">
              <a:solidFill>
                <a:srgbClr val="9C2F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zh-CN" altLang="en-US" sz="116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性格测试 → 生成专属人设卡 → 生成古风形象 → 定制专属音色 → 创作数字人短视频。</a:t>
            </a:r>
            <a:endParaRPr sz="116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5786" y="5019290"/>
            <a:ext cx="1097280" cy="921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5400" b="1" dirty="0">
                <a:solidFill>
                  <a:srgbClr val="9C2F2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603392"/>
            <a:ext cx="1097280" cy="216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步向导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771288"/>
            <a:ext cx="5074920" cy="1347575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899303"/>
            <a:ext cx="50292" cy="1148985"/>
          </a:xfrm>
          <a:prstGeom prst="rect">
            <a:avLst/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28816" y="4926736"/>
            <a:ext cx="3246120" cy="58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50" b="1" dirty="0" err="1">
                <a:solidFill>
                  <a:srgbClr val="2F4A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个人中心</a:t>
            </a:r>
            <a:endParaRPr sz="1450" b="1" dirty="0">
              <a:solidFill>
                <a:srgbClr val="2F4A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6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注册登录、问答与对话统计、本地收藏</a:t>
            </a:r>
            <a:r>
              <a:rPr sz="116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4988251"/>
            <a:ext cx="1097280" cy="921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rgbClr val="2F4A4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2</a:t>
            </a:r>
            <a:endParaRPr sz="5400" b="1" dirty="0">
              <a:solidFill>
                <a:srgbClr val="2F4A40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104120" y="5603392"/>
            <a:ext cx="1097280" cy="216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lang="zh-CN" altLang="en-US" sz="120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类</a:t>
            </a:r>
            <a:r>
              <a:rPr sz="1200" b="0" dirty="0" err="1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endParaRPr sz="1200" b="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1B0338FC-6D46-D6C0-654B-961583C6E491}"/>
              </a:ext>
            </a:extLst>
          </p:cNvPr>
          <p:cNvSpPr/>
          <p:nvPr/>
        </p:nvSpPr>
        <p:spPr>
          <a:xfrm>
            <a:off x="868680" y="1498850"/>
            <a:ext cx="1516380" cy="694944"/>
          </a:xfrm>
          <a:prstGeom prst="roundRect">
            <a:avLst>
              <a:gd name="adj" fmla="val 14000"/>
            </a:avLst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 dirty="0" err="1">
                <a:solidFill>
                  <a:srgbClr val="FFF8EE"/>
                </a:solidFill>
                <a:latin typeface="KaiTi"/>
                <a:ea typeface="KaiTi"/>
                <a:cs typeface="KaiTi"/>
              </a:rPr>
              <a:t>首页</a:t>
            </a:r>
            <a:endParaRPr sz="1400" b="1" dirty="0">
              <a:solidFill>
                <a:srgbClr val="FFF8EE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40" name="TextBox 13">
            <a:extLst>
              <a:ext uri="{FF2B5EF4-FFF2-40B4-BE49-F238E27FC236}">
                <a16:creationId xmlns:a16="http://schemas.microsoft.com/office/drawing/2014/main" id="{BE2E05DC-CD78-823A-B896-B63AD46DE2C4}"/>
              </a:ext>
            </a:extLst>
          </p:cNvPr>
          <p:cNvSpPr txBox="1"/>
          <p:nvPr/>
        </p:nvSpPr>
        <p:spPr>
          <a:xfrm>
            <a:off x="2385060" y="1683809"/>
            <a:ext cx="274320" cy="325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2" name="Rounded Rectangle 14">
            <a:extLst>
              <a:ext uri="{FF2B5EF4-FFF2-40B4-BE49-F238E27FC236}">
                <a16:creationId xmlns:a16="http://schemas.microsoft.com/office/drawing/2014/main" id="{35360A7E-39D3-5E43-7584-17C6552C513F}"/>
              </a:ext>
            </a:extLst>
          </p:cNvPr>
          <p:cNvSpPr/>
          <p:nvPr/>
        </p:nvSpPr>
        <p:spPr>
          <a:xfrm>
            <a:off x="2659380" y="1498850"/>
            <a:ext cx="1516380" cy="694944"/>
          </a:xfrm>
          <a:prstGeom prst="roundRect">
            <a:avLst>
              <a:gd name="adj" fmla="val 14000"/>
            </a:avLst>
          </a:prstGeom>
          <a:solidFill>
            <a:srgbClr val="40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400" b="1" dirty="0">
                <a:solidFill>
                  <a:srgbClr val="FFF8EE"/>
                </a:solidFill>
                <a:latin typeface="KaiTi"/>
                <a:ea typeface="KaiTi"/>
                <a:cs typeface="KaiTi"/>
              </a:rPr>
              <a:t>典籍</a:t>
            </a:r>
            <a:r>
              <a:rPr sz="1400" b="1" dirty="0" err="1">
                <a:solidFill>
                  <a:srgbClr val="FFF8EE"/>
                </a:solidFill>
                <a:latin typeface="KaiTi"/>
                <a:ea typeface="KaiTi"/>
                <a:cs typeface="KaiTi"/>
              </a:rPr>
              <a:t>书库</a:t>
            </a:r>
            <a:endParaRPr sz="1400" b="1" dirty="0">
              <a:solidFill>
                <a:srgbClr val="FFF8EE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627016A8-4F45-80C4-08AE-C4FC52B05E7B}"/>
              </a:ext>
            </a:extLst>
          </p:cNvPr>
          <p:cNvSpPr txBox="1"/>
          <p:nvPr/>
        </p:nvSpPr>
        <p:spPr>
          <a:xfrm>
            <a:off x="4175760" y="1683809"/>
            <a:ext cx="274320" cy="325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6" name="Rounded Rectangle 16">
            <a:extLst>
              <a:ext uri="{FF2B5EF4-FFF2-40B4-BE49-F238E27FC236}">
                <a16:creationId xmlns:a16="http://schemas.microsoft.com/office/drawing/2014/main" id="{EE51FBB2-6738-50BA-1487-09C9CBD56D54}"/>
              </a:ext>
            </a:extLst>
          </p:cNvPr>
          <p:cNvSpPr/>
          <p:nvPr/>
        </p:nvSpPr>
        <p:spPr>
          <a:xfrm>
            <a:off x="4450080" y="1498850"/>
            <a:ext cx="1516380" cy="694944"/>
          </a:xfrm>
          <a:prstGeom prst="roundRect">
            <a:avLst>
              <a:gd name="adj" fmla="val 14000"/>
            </a:avLst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智能问答</a:t>
            </a:r>
          </a:p>
        </p:txBody>
      </p:sp>
      <p:sp>
        <p:nvSpPr>
          <p:cNvPr id="48" name="TextBox 17">
            <a:extLst>
              <a:ext uri="{FF2B5EF4-FFF2-40B4-BE49-F238E27FC236}">
                <a16:creationId xmlns:a16="http://schemas.microsoft.com/office/drawing/2014/main" id="{C90CCBFE-0866-9823-0BA6-54FB76DF20FE}"/>
              </a:ext>
            </a:extLst>
          </p:cNvPr>
          <p:cNvSpPr txBox="1"/>
          <p:nvPr/>
        </p:nvSpPr>
        <p:spPr>
          <a:xfrm>
            <a:off x="5966460" y="1683809"/>
            <a:ext cx="274320" cy="325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0" name="Rounded Rectangle 18">
            <a:extLst>
              <a:ext uri="{FF2B5EF4-FFF2-40B4-BE49-F238E27FC236}">
                <a16:creationId xmlns:a16="http://schemas.microsoft.com/office/drawing/2014/main" id="{2DC93FBD-2D5D-2A9D-41C2-93E9515859EA}"/>
              </a:ext>
            </a:extLst>
          </p:cNvPr>
          <p:cNvSpPr/>
          <p:nvPr/>
        </p:nvSpPr>
        <p:spPr>
          <a:xfrm>
            <a:off x="6240780" y="1498850"/>
            <a:ext cx="1516380" cy="694944"/>
          </a:xfrm>
          <a:prstGeom prst="roundRect">
            <a:avLst>
              <a:gd name="adj" fmla="val 14000"/>
            </a:avLst>
          </a:prstGeom>
          <a:solidFill>
            <a:srgbClr val="40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先贤对话</a:t>
            </a:r>
          </a:p>
        </p:txBody>
      </p:sp>
      <p:sp>
        <p:nvSpPr>
          <p:cNvPr id="52" name="TextBox 19">
            <a:extLst>
              <a:ext uri="{FF2B5EF4-FFF2-40B4-BE49-F238E27FC236}">
                <a16:creationId xmlns:a16="http://schemas.microsoft.com/office/drawing/2014/main" id="{C4F7C70B-85B6-FB3A-B364-6127E44130A7}"/>
              </a:ext>
            </a:extLst>
          </p:cNvPr>
          <p:cNvSpPr txBox="1"/>
          <p:nvPr/>
        </p:nvSpPr>
        <p:spPr>
          <a:xfrm>
            <a:off x="7757160" y="1683809"/>
            <a:ext cx="274320" cy="325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4" name="Rounded Rectangle 20">
            <a:extLst>
              <a:ext uri="{FF2B5EF4-FFF2-40B4-BE49-F238E27FC236}">
                <a16:creationId xmlns:a16="http://schemas.microsoft.com/office/drawing/2014/main" id="{19DF8815-23B8-29B2-E14E-43CEE615B096}"/>
              </a:ext>
            </a:extLst>
          </p:cNvPr>
          <p:cNvSpPr/>
          <p:nvPr/>
        </p:nvSpPr>
        <p:spPr>
          <a:xfrm>
            <a:off x="8031480" y="1498850"/>
            <a:ext cx="1516380" cy="694944"/>
          </a:xfrm>
          <a:prstGeom prst="roundRect">
            <a:avLst>
              <a:gd name="adj" fmla="val 14000"/>
            </a:avLst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风骨创作</a:t>
            </a:r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9C7A1BEA-4F0E-C13D-D57F-E012A194FCCC}"/>
              </a:ext>
            </a:extLst>
          </p:cNvPr>
          <p:cNvSpPr txBox="1"/>
          <p:nvPr/>
        </p:nvSpPr>
        <p:spPr>
          <a:xfrm>
            <a:off x="9547860" y="1683809"/>
            <a:ext cx="274320" cy="325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8" name="Rounded Rectangle 22">
            <a:extLst>
              <a:ext uri="{FF2B5EF4-FFF2-40B4-BE49-F238E27FC236}">
                <a16:creationId xmlns:a16="http://schemas.microsoft.com/office/drawing/2014/main" id="{D57BAD3D-8ADC-118F-715B-7E614DC55222}"/>
              </a:ext>
            </a:extLst>
          </p:cNvPr>
          <p:cNvSpPr/>
          <p:nvPr/>
        </p:nvSpPr>
        <p:spPr>
          <a:xfrm>
            <a:off x="9822180" y="1498850"/>
            <a:ext cx="1516380" cy="694944"/>
          </a:xfrm>
          <a:prstGeom prst="roundRect">
            <a:avLst>
              <a:gd name="adj" fmla="val 14000"/>
            </a:avLst>
          </a:prstGeom>
          <a:solidFill>
            <a:srgbClr val="40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个人中心</a:t>
            </a:r>
          </a:p>
        </p:txBody>
      </p:sp>
      <p:sp>
        <p:nvSpPr>
          <p:cNvPr id="61" name="TextBox 14">
            <a:extLst>
              <a:ext uri="{FF2B5EF4-FFF2-40B4-BE49-F238E27FC236}">
                <a16:creationId xmlns:a16="http://schemas.microsoft.com/office/drawing/2014/main" id="{627A8717-3FF4-F034-A85F-7EF42413D889}"/>
              </a:ext>
            </a:extLst>
          </p:cNvPr>
          <p:cNvSpPr txBox="1"/>
          <p:nvPr/>
        </p:nvSpPr>
        <p:spPr>
          <a:xfrm>
            <a:off x="2284157" y="3719384"/>
            <a:ext cx="1871314" cy="750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altLang="zh-CN" sz="4400" b="1" dirty="0">
                <a:solidFill>
                  <a:srgbClr val="9C2F26"/>
                </a:solidFill>
                <a:latin typeface="方正舒体" panose="02010601030101010101" pitchFamily="2" charset="-122"/>
                <a:ea typeface="方正舒体" panose="02010601030101010101" pitchFamily="2" charset="-122"/>
                <a:cs typeface="KaiTi"/>
              </a:rPr>
              <a:t>736.9</a:t>
            </a:r>
            <a:endParaRPr sz="4400" b="1" dirty="0">
              <a:solidFill>
                <a:srgbClr val="9C2F26"/>
              </a:solidFill>
              <a:latin typeface="方正舒体" panose="02010601030101010101" pitchFamily="2" charset="-122"/>
              <a:ea typeface="方正舒体" panose="02010601030101010101" pitchFamily="2" charset="-122"/>
              <a:cs typeface="KaiTi"/>
            </a:endParaRPr>
          </a:p>
        </p:txBody>
      </p:sp>
      <p:sp>
        <p:nvSpPr>
          <p:cNvPr id="63" name="TextBox 15">
            <a:extLst>
              <a:ext uri="{FF2B5EF4-FFF2-40B4-BE49-F238E27FC236}">
                <a16:creationId xmlns:a16="http://schemas.microsoft.com/office/drawing/2014/main" id="{024600DB-04E2-7B41-6D74-41BFADCB3635}"/>
              </a:ext>
            </a:extLst>
          </p:cNvPr>
          <p:cNvSpPr txBox="1"/>
          <p:nvPr/>
        </p:nvSpPr>
        <p:spPr>
          <a:xfrm>
            <a:off x="3657452" y="4152699"/>
            <a:ext cx="1828800" cy="216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00" dirty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万字</a:t>
            </a:r>
            <a:endParaRPr sz="120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453D34"/>
                </a:solidFill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3854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首页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3E7DA14A-A7C0-4174-1A71-441B78B9D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38781" y="1347958"/>
            <a:ext cx="4664797" cy="4978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3DC2ADA-64CA-0340-C6D2-ECAA7D5BDB51}"/>
              </a:ext>
            </a:extLst>
          </p:cNvPr>
          <p:cNvSpPr txBox="1"/>
          <p:nvPr/>
        </p:nvSpPr>
        <p:spPr>
          <a:xfrm>
            <a:off x="8827980" y="6430773"/>
            <a:ext cx="568029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30" dirty="0">
                <a:solidFill>
                  <a:srgbClr val="7C7364"/>
                </a:solidFill>
                <a:latin typeface="Microsoft YaHei"/>
                <a:ea typeface="Microsoft YaHei"/>
              </a:rPr>
              <a:t>首页</a:t>
            </a:r>
            <a:endParaRPr lang="zh-CN" altLang="en-US" dirty="0"/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FA24DEC4-42E8-3780-5EE8-49201F6B0ED1}"/>
              </a:ext>
            </a:extLst>
          </p:cNvPr>
          <p:cNvSpPr/>
          <p:nvPr/>
        </p:nvSpPr>
        <p:spPr>
          <a:xfrm>
            <a:off x="777238" y="2005934"/>
            <a:ext cx="5486401" cy="594568"/>
          </a:xfrm>
          <a:prstGeom prst="roundRect">
            <a:avLst>
              <a:gd name="adj" fmla="val 15263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8B095AC8-4E4E-FC35-B2B0-AD23BF7E21F1}"/>
              </a:ext>
            </a:extLst>
          </p:cNvPr>
          <p:cNvSpPr/>
          <p:nvPr/>
        </p:nvSpPr>
        <p:spPr>
          <a:xfrm>
            <a:off x="969263" y="1573141"/>
            <a:ext cx="1056383" cy="297089"/>
          </a:xfrm>
          <a:prstGeom prst="roundRect">
            <a:avLst>
              <a:gd name="adj" fmla="val 3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四个快捷入口</a:t>
            </a:r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AF7EA442-9997-E752-3FB6-57AD88FEB9D0}"/>
              </a:ext>
            </a:extLst>
          </p:cNvPr>
          <p:cNvSpPr/>
          <p:nvPr/>
        </p:nvSpPr>
        <p:spPr>
          <a:xfrm>
            <a:off x="969264" y="2868884"/>
            <a:ext cx="1056382" cy="297089"/>
          </a:xfrm>
          <a:prstGeom prst="roundRect">
            <a:avLst>
              <a:gd name="adj" fmla="val 3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今日论语</a:t>
            </a:r>
            <a:endParaRPr sz="1200" b="1" dirty="0">
              <a:solidFill>
                <a:srgbClr val="FFF8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Rounded Rectangle 14">
            <a:extLst>
              <a:ext uri="{FF2B5EF4-FFF2-40B4-BE49-F238E27FC236}">
                <a16:creationId xmlns:a16="http://schemas.microsoft.com/office/drawing/2014/main" id="{9D1418B7-B09A-052F-4603-B57696B4D6D2}"/>
              </a:ext>
            </a:extLst>
          </p:cNvPr>
          <p:cNvSpPr/>
          <p:nvPr/>
        </p:nvSpPr>
        <p:spPr>
          <a:xfrm>
            <a:off x="969264" y="4424101"/>
            <a:ext cx="1056382" cy="297089"/>
          </a:xfrm>
          <a:prstGeom prst="roundRect">
            <a:avLst>
              <a:gd name="adj" fmla="val 3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典册撷英</a:t>
            </a:r>
            <a:endParaRPr sz="1200" b="1" dirty="0">
              <a:solidFill>
                <a:srgbClr val="FFF8E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Rounded Rectangle 12">
            <a:extLst>
              <a:ext uri="{FF2B5EF4-FFF2-40B4-BE49-F238E27FC236}">
                <a16:creationId xmlns:a16="http://schemas.microsoft.com/office/drawing/2014/main" id="{1E82B6EA-A8A9-CE81-976A-8F1043BD624F}"/>
              </a:ext>
            </a:extLst>
          </p:cNvPr>
          <p:cNvSpPr/>
          <p:nvPr/>
        </p:nvSpPr>
        <p:spPr>
          <a:xfrm>
            <a:off x="777238" y="3271997"/>
            <a:ext cx="5486401" cy="918545"/>
          </a:xfrm>
          <a:prstGeom prst="roundRect">
            <a:avLst>
              <a:gd name="adj" fmla="val 15263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12">
            <a:extLst>
              <a:ext uri="{FF2B5EF4-FFF2-40B4-BE49-F238E27FC236}">
                <a16:creationId xmlns:a16="http://schemas.microsoft.com/office/drawing/2014/main" id="{8EAEBA01-3DE8-9C5C-8433-CAFEE4D29D86}"/>
              </a:ext>
            </a:extLst>
          </p:cNvPr>
          <p:cNvSpPr/>
          <p:nvPr/>
        </p:nvSpPr>
        <p:spPr>
          <a:xfrm>
            <a:off x="777238" y="4862037"/>
            <a:ext cx="5486401" cy="820305"/>
          </a:xfrm>
          <a:prstGeom prst="roundRect">
            <a:avLst>
              <a:gd name="adj" fmla="val 15263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258C50A-3F63-47BF-8B4D-08AE5D2C983C}"/>
              </a:ext>
            </a:extLst>
          </p:cNvPr>
          <p:cNvSpPr txBox="1"/>
          <p:nvPr/>
        </p:nvSpPr>
        <p:spPr>
          <a:xfrm>
            <a:off x="888422" y="3422186"/>
            <a:ext cx="5150428" cy="650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lang="zh-CN" altLang="en-US" sz="11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每日自动更新一条</a:t>
            </a:r>
            <a:r>
              <a:rPr lang="en-US" altLang="zh-CN" sz="11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lang="zh-CN" altLang="en-US" sz="11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论语</a:t>
            </a:r>
            <a:r>
              <a:rPr lang="en-US" altLang="zh-CN" sz="11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》</a:t>
            </a:r>
            <a:r>
              <a:rPr lang="zh-CN" altLang="en-US" sz="11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原文，附带通俗译文解读。</a:t>
            </a:r>
            <a:endParaRPr lang="en-US" altLang="zh-CN" sz="118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lang="zh-CN" altLang="en-US" sz="11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支持一键摘抄复制原文、针对这句话发起提问、或直接向孔子请教。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859CC82-0330-4C99-F783-06DCF79D47B8}"/>
              </a:ext>
            </a:extLst>
          </p:cNvPr>
          <p:cNvSpPr txBox="1"/>
          <p:nvPr/>
        </p:nvSpPr>
        <p:spPr>
          <a:xfrm>
            <a:off x="888422" y="2124728"/>
            <a:ext cx="6096000" cy="31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zh-CN" altLang="en-US" sz="11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一键跳转四大核心板块 </a:t>
            </a:r>
            <a:r>
              <a:rPr lang="en-US" altLang="zh-CN" sz="11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—— </a:t>
            </a:r>
            <a:r>
              <a:rPr lang="zh-CN" altLang="en-US" sz="11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典籍书库、智能问答、先贤对话、个人创作。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CF26E43-6773-1A24-1458-319592705835}"/>
              </a:ext>
            </a:extLst>
          </p:cNvPr>
          <p:cNvSpPr txBox="1"/>
          <p:nvPr/>
        </p:nvSpPr>
        <p:spPr>
          <a:xfrm>
            <a:off x="888422" y="4983387"/>
            <a:ext cx="5150428" cy="573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800"/>
              </a:spcAft>
            </a:pPr>
            <a:r>
              <a:rPr lang="zh-CN" altLang="en-US" sz="11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精选典籍推荐区，展示核心典籍的卡片列表，可点击进入书库阅读，也能跳转查看全部藏书。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453D34"/>
                </a:solidFill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53240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569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典藏书库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08314" y="3847740"/>
            <a:ext cx="4297680" cy="227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8000"/>
              </a:lnSpc>
              <a:spcAft>
                <a:spcPts val="400"/>
              </a:spcAft>
            </a:pPr>
            <a:r>
              <a:rPr sz="1130" b="0" dirty="0" err="1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建议截取：书库整页，能看到五类书架标签</a:t>
            </a:r>
            <a:endParaRPr sz="1130" b="0" dirty="0">
              <a:solidFill>
                <a:srgbClr val="7C7364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28F268E0-C4CD-DDF6-903A-5F96F1CD5E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2" t="161" r="5439"/>
          <a:stretch>
            <a:fillRect/>
          </a:stretch>
        </p:blipFill>
        <p:spPr>
          <a:xfrm>
            <a:off x="837010" y="3214169"/>
            <a:ext cx="5052151" cy="31089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F35045F6-55D1-2113-4B80-111286CD0F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2" t="-1119" r="3819" b="2229"/>
          <a:stretch>
            <a:fillRect/>
          </a:stretch>
        </p:blipFill>
        <p:spPr>
          <a:xfrm>
            <a:off x="6228880" y="3210169"/>
            <a:ext cx="5241072" cy="31089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7" name="Rounded Rectangle 11">
            <a:extLst>
              <a:ext uri="{FF2B5EF4-FFF2-40B4-BE49-F238E27FC236}">
                <a16:creationId xmlns:a16="http://schemas.microsoft.com/office/drawing/2014/main" id="{5283C809-BF8C-93D2-7FDB-F11CC2E6BCB7}"/>
              </a:ext>
            </a:extLst>
          </p:cNvPr>
          <p:cNvSpPr/>
          <p:nvPr/>
        </p:nvSpPr>
        <p:spPr>
          <a:xfrm>
            <a:off x="781338" y="1416963"/>
            <a:ext cx="5196178" cy="1465244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13">
            <a:extLst>
              <a:ext uri="{FF2B5EF4-FFF2-40B4-BE49-F238E27FC236}">
                <a16:creationId xmlns:a16="http://schemas.microsoft.com/office/drawing/2014/main" id="{59FC96A9-6328-EE9A-F571-08D24AF35838}"/>
              </a:ext>
            </a:extLst>
          </p:cNvPr>
          <p:cNvSpPr txBox="1"/>
          <p:nvPr/>
        </p:nvSpPr>
        <p:spPr>
          <a:xfrm>
            <a:off x="957450" y="1554749"/>
            <a:ext cx="4890761" cy="1150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450" b="1" dirty="0">
                <a:solidFill>
                  <a:srgbClr val="9C2F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典籍</a:t>
            </a:r>
            <a:r>
              <a:rPr sz="1450" b="1" dirty="0" err="1">
                <a:solidFill>
                  <a:srgbClr val="9C2F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书库</a:t>
            </a:r>
            <a:r>
              <a:rPr lang="zh-CN" altLang="en-US" sz="1450" b="1" dirty="0">
                <a:solidFill>
                  <a:srgbClr val="9C2F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页面</a:t>
            </a:r>
            <a:endParaRPr sz="1450" b="1" dirty="0">
              <a:solidFill>
                <a:srgbClr val="9C2F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KaiTi"/>
            </a:endParaRPr>
          </a:p>
          <a:p>
            <a:pPr marL="171450" indent="-171450" algn="just">
              <a:lnSpc>
                <a:spcPct val="134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检索搜索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：可输入关键词检索典籍、篇目内容。</a:t>
            </a:r>
          </a:p>
          <a:p>
            <a:pPr marL="171450" indent="-171450" algn="just">
              <a:lnSpc>
                <a:spcPct val="134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快速标签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：一键筛选对应书目。</a:t>
            </a:r>
          </a:p>
          <a:p>
            <a:pPr marL="171450" indent="-171450" algn="just">
              <a:lnSpc>
                <a:spcPct val="134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分类陈列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：典籍按史传、家语等类别分组展示，区分原文与译文版本。</a:t>
            </a:r>
          </a:p>
        </p:txBody>
      </p:sp>
      <p:sp>
        <p:nvSpPr>
          <p:cNvPr id="43" name="Rounded Rectangle 11">
            <a:extLst>
              <a:ext uri="{FF2B5EF4-FFF2-40B4-BE49-F238E27FC236}">
                <a16:creationId xmlns:a16="http://schemas.microsoft.com/office/drawing/2014/main" id="{9DE1DDB0-3A38-F725-474F-BE3AF1F886F9}"/>
              </a:ext>
            </a:extLst>
          </p:cNvPr>
          <p:cNvSpPr/>
          <p:nvPr/>
        </p:nvSpPr>
        <p:spPr>
          <a:xfrm>
            <a:off x="6238732" y="1422931"/>
            <a:ext cx="5196178" cy="1465244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00106BB2-F3A3-C43D-CA08-5C0D66C23E3B}"/>
              </a:ext>
            </a:extLst>
          </p:cNvPr>
          <p:cNvSpPr txBox="1"/>
          <p:nvPr/>
        </p:nvSpPr>
        <p:spPr>
          <a:xfrm>
            <a:off x="6499948" y="1550948"/>
            <a:ext cx="5292560" cy="1150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450" b="1" dirty="0">
                <a:solidFill>
                  <a:srgbClr val="9C2F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典籍阅读界面</a:t>
            </a:r>
            <a:endParaRPr sz="1450" b="1" dirty="0">
              <a:solidFill>
                <a:srgbClr val="9C2F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KaiTi"/>
            </a:endParaRPr>
          </a:p>
          <a:p>
            <a:pPr marL="171450" indent="-171450" algn="just">
              <a:lnSpc>
                <a:spcPct val="134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竖版卷轴阅读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：还原古本阅读体验，支持连续滑动翻页。</a:t>
            </a:r>
          </a:p>
          <a:p>
            <a:pPr marL="171450" indent="-171450" algn="just">
              <a:lnSpc>
                <a:spcPct val="134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快捷提问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：阅读过程中可直接选取当前篇章，跳转智能问答。</a:t>
            </a:r>
          </a:p>
          <a:p>
            <a:pPr marL="171450" indent="-171450" algn="just">
              <a:lnSpc>
                <a:spcPct val="134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工具栏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：支持前后章节跳转、收藏篇目、返回上一级，返回首页。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453D34"/>
                </a:solidFill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26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智能问答</a:t>
            </a:r>
            <a:r>
              <a:rPr lang="en-US" altLang="zh-CN" sz="26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——</a:t>
            </a:r>
            <a:r>
              <a:rPr lang="zh-CN" altLang="en-US" sz="26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治学、修心、修身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5A76207-3487-98E5-F5D0-EF3DD11AA9DA}"/>
              </a:ext>
            </a:extLst>
          </p:cNvPr>
          <p:cNvGrpSpPr/>
          <p:nvPr/>
        </p:nvGrpSpPr>
        <p:grpSpPr>
          <a:xfrm>
            <a:off x="406888" y="1673992"/>
            <a:ext cx="6595749" cy="4131808"/>
            <a:chOff x="1073881" y="1261457"/>
            <a:chExt cx="8095767" cy="5071472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C3863BE2-30F9-904C-76A9-3DA1167ED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29" r="7342"/>
            <a:stretch>
              <a:fillRect/>
            </a:stretch>
          </p:blipFill>
          <p:spPr>
            <a:xfrm>
              <a:off x="1073881" y="1261457"/>
              <a:ext cx="8095767" cy="507147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B88CF36-062E-72FE-A1FA-83A73D163E27}"/>
                </a:ext>
              </a:extLst>
            </p:cNvPr>
            <p:cNvSpPr/>
            <p:nvPr/>
          </p:nvSpPr>
          <p:spPr>
            <a:xfrm>
              <a:off x="1835881" y="2809715"/>
              <a:ext cx="1490133" cy="6180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85EBF726-5964-A429-293A-226A12F4475B}"/>
                </a:ext>
              </a:extLst>
            </p:cNvPr>
            <p:cNvCxnSpPr/>
            <p:nvPr/>
          </p:nvCxnSpPr>
          <p:spPr>
            <a:xfrm>
              <a:off x="1073881" y="2362200"/>
              <a:ext cx="643467" cy="447516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5F537528-A121-69BD-6236-21B13A2EC35D}"/>
              </a:ext>
            </a:extLst>
          </p:cNvPr>
          <p:cNvSpPr/>
          <p:nvPr/>
        </p:nvSpPr>
        <p:spPr>
          <a:xfrm>
            <a:off x="7333419" y="2048133"/>
            <a:ext cx="4412179" cy="918544"/>
          </a:xfrm>
          <a:prstGeom prst="roundRect">
            <a:avLst>
              <a:gd name="adj" fmla="val 15263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8" name="Rounded Rectangle 14">
            <a:extLst>
              <a:ext uri="{FF2B5EF4-FFF2-40B4-BE49-F238E27FC236}">
                <a16:creationId xmlns:a16="http://schemas.microsoft.com/office/drawing/2014/main" id="{290C5E4B-E65A-3231-E3FE-E257B37D5AA7}"/>
              </a:ext>
            </a:extLst>
          </p:cNvPr>
          <p:cNvSpPr/>
          <p:nvPr/>
        </p:nvSpPr>
        <p:spPr>
          <a:xfrm>
            <a:off x="7391076" y="1643563"/>
            <a:ext cx="2184363" cy="297089"/>
          </a:xfrm>
          <a:prstGeom prst="roundRect">
            <a:avLst>
              <a:gd name="adj" fmla="val 30000"/>
            </a:avLst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治学 </a:t>
            </a:r>
            <a:r>
              <a:rPr lang="en-US" altLang="zh-CN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Agent</a:t>
            </a: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｜怎么理解</a:t>
            </a:r>
          </a:p>
        </p:txBody>
      </p:sp>
      <p:sp>
        <p:nvSpPr>
          <p:cNvPr id="40" name="Rounded Rectangle 14">
            <a:extLst>
              <a:ext uri="{FF2B5EF4-FFF2-40B4-BE49-F238E27FC236}">
                <a16:creationId xmlns:a16="http://schemas.microsoft.com/office/drawing/2014/main" id="{7E15E040-A5E3-F653-70DA-D9FDC956F2A3}"/>
              </a:ext>
            </a:extLst>
          </p:cNvPr>
          <p:cNvSpPr/>
          <p:nvPr/>
        </p:nvSpPr>
        <p:spPr>
          <a:xfrm>
            <a:off x="7391077" y="3061688"/>
            <a:ext cx="2184362" cy="297089"/>
          </a:xfrm>
          <a:prstGeom prst="roundRect">
            <a:avLst>
              <a:gd name="adj" fmla="val 30000"/>
            </a:avLst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修心 </a:t>
            </a:r>
            <a:r>
              <a:rPr lang="en-US" altLang="zh-CN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Agent</a:t>
            </a: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｜怎么看待自己</a:t>
            </a:r>
          </a:p>
        </p:txBody>
      </p:sp>
      <p:sp>
        <p:nvSpPr>
          <p:cNvPr id="42" name="Rounded Rectangle 14">
            <a:extLst>
              <a:ext uri="{FF2B5EF4-FFF2-40B4-BE49-F238E27FC236}">
                <a16:creationId xmlns:a16="http://schemas.microsoft.com/office/drawing/2014/main" id="{DDD22271-755E-A3A9-1465-5F720FBD6CA3}"/>
              </a:ext>
            </a:extLst>
          </p:cNvPr>
          <p:cNvSpPr/>
          <p:nvPr/>
        </p:nvSpPr>
        <p:spPr>
          <a:xfrm>
            <a:off x="7391077" y="4519892"/>
            <a:ext cx="2184362" cy="297089"/>
          </a:xfrm>
          <a:prstGeom prst="roundRect">
            <a:avLst>
              <a:gd name="adj" fmla="val 30000"/>
            </a:avLst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修身 </a:t>
            </a:r>
            <a:r>
              <a:rPr lang="en-US" altLang="zh-CN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Agent</a:t>
            </a:r>
            <a:r>
              <a:rPr lang="zh-CN" altLang="en-US" sz="120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｜怎么做</a:t>
            </a:r>
          </a:p>
        </p:txBody>
      </p:sp>
      <p:sp>
        <p:nvSpPr>
          <p:cNvPr id="44" name="Rounded Rectangle 12">
            <a:extLst>
              <a:ext uri="{FF2B5EF4-FFF2-40B4-BE49-F238E27FC236}">
                <a16:creationId xmlns:a16="http://schemas.microsoft.com/office/drawing/2014/main" id="{BCD496B3-D2F4-A5A1-1E54-A8ED70B9C41A}"/>
              </a:ext>
            </a:extLst>
          </p:cNvPr>
          <p:cNvSpPr/>
          <p:nvPr/>
        </p:nvSpPr>
        <p:spPr>
          <a:xfrm>
            <a:off x="7333419" y="3438931"/>
            <a:ext cx="4412180" cy="918545"/>
          </a:xfrm>
          <a:prstGeom prst="roundRect">
            <a:avLst>
              <a:gd name="adj" fmla="val 15263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12">
            <a:extLst>
              <a:ext uri="{FF2B5EF4-FFF2-40B4-BE49-F238E27FC236}">
                <a16:creationId xmlns:a16="http://schemas.microsoft.com/office/drawing/2014/main" id="{027E65BD-8D76-5C68-E53D-A1C16134CFD2}"/>
              </a:ext>
            </a:extLst>
          </p:cNvPr>
          <p:cNvSpPr/>
          <p:nvPr/>
        </p:nvSpPr>
        <p:spPr>
          <a:xfrm>
            <a:off x="7333420" y="4903839"/>
            <a:ext cx="4412179" cy="963050"/>
          </a:xfrm>
          <a:prstGeom prst="roundRect">
            <a:avLst>
              <a:gd name="adj" fmla="val 15263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637C544-4B71-E7A4-59EB-A191787DA264}"/>
              </a:ext>
            </a:extLst>
          </p:cNvPr>
          <p:cNvSpPr txBox="1"/>
          <p:nvPr/>
        </p:nvSpPr>
        <p:spPr>
          <a:xfrm>
            <a:off x="7003125" y="3604355"/>
            <a:ext cx="4742474" cy="58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  <a:spcAft>
                <a:spcPts val="600"/>
              </a:spcAft>
            </a:pPr>
            <a:r>
              <a:rPr lang="en-US" altLang="zh-CN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【</a:t>
            </a: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适用情景</a:t>
            </a:r>
            <a:r>
              <a:rPr lang="en-US" altLang="zh-CN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】</a:t>
            </a: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情绪内耗、焦虑比较、心理空虚</a:t>
            </a:r>
          </a:p>
          <a:p>
            <a:pPr lvl="1">
              <a:lnSpc>
                <a:spcPct val="125000"/>
              </a:lnSpc>
              <a:spcAft>
                <a:spcPts val="600"/>
              </a:spcAft>
            </a:pP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先共情处境，再梳理困扰；每次引 </a:t>
            </a:r>
            <a:r>
              <a:rPr lang="en-US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1-2 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条材料，给出行动建议。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E5E3B65-A879-7DDE-1C91-E996958FFB7B}"/>
              </a:ext>
            </a:extLst>
          </p:cNvPr>
          <p:cNvSpPr txBox="1"/>
          <p:nvPr/>
        </p:nvSpPr>
        <p:spPr>
          <a:xfrm>
            <a:off x="7015036" y="4982360"/>
            <a:ext cx="4652271" cy="807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  <a:spcAft>
                <a:spcPts val="600"/>
              </a:spcAft>
            </a:pPr>
            <a:r>
              <a:rPr lang="en-US" altLang="zh-CN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【</a:t>
            </a: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适用情景</a:t>
            </a:r>
            <a:r>
              <a:rPr lang="en-US" altLang="zh-CN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】</a:t>
            </a: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人际冲突、沟通障碍、拖延习惯</a:t>
            </a:r>
          </a:p>
          <a:p>
            <a:pPr lvl="1">
              <a:lnSpc>
                <a:spcPct val="125000"/>
              </a:lnSpc>
              <a:spcAft>
                <a:spcPts val="600"/>
              </a:spcAft>
            </a:pP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抓取问题核心，给出 </a:t>
            </a:r>
            <a:r>
              <a:rPr lang="en-US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1 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条最相关的原则 </a:t>
            </a:r>
            <a:r>
              <a:rPr lang="en-US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+ 2-4 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步具体做法 </a:t>
            </a:r>
            <a:r>
              <a:rPr lang="en-US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+ 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一句当前可以参考的话术，不空谈道理。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BE04D6D-E1BC-FE91-5113-7299DE02BE32}"/>
              </a:ext>
            </a:extLst>
          </p:cNvPr>
          <p:cNvSpPr txBox="1"/>
          <p:nvPr/>
        </p:nvSpPr>
        <p:spPr>
          <a:xfrm>
            <a:off x="6980066" y="2095130"/>
            <a:ext cx="4742474" cy="807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5000"/>
              </a:lnSpc>
              <a:spcAft>
                <a:spcPts val="600"/>
              </a:spcAft>
            </a:pPr>
            <a:r>
              <a:rPr lang="en-US" altLang="zh-CN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【</a:t>
            </a:r>
            <a:r>
              <a:rPr lang="zh-CN" altLang="zh-CN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适用</a:t>
            </a: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情景</a:t>
            </a:r>
            <a:r>
              <a:rPr lang="en-US" altLang="zh-CN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】</a:t>
            </a:r>
            <a:r>
              <a:rPr lang="zh-CN" altLang="zh-CN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字词翻译、人物概念、篇章理解</a:t>
            </a:r>
          </a:p>
          <a:p>
            <a:pPr lvl="1">
              <a:lnSpc>
                <a:spcPct val="125000"/>
              </a:lnSpc>
              <a:spcAft>
                <a:spcPts val="600"/>
              </a:spcAft>
            </a:pPr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结合原文语境，梳理与“仁、礼、君子”等核心思想的联系，辨析不同注解，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不编造出处，</a:t>
            </a:r>
            <a:r>
              <a:rPr lang="zh-CN" altLang="zh-CN" sz="1140" dirty="0">
                <a:solidFill>
                  <a:srgbClr val="453D34"/>
                </a:solidFill>
                <a:latin typeface="Microsoft YaHei"/>
                <a:ea typeface="Microsoft YaHei"/>
              </a:rPr>
              <a:t>不强行统一答案。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D6A79-665B-4697-7E56-153CC0EE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76BE0D-5943-DAE9-7E82-664E1544E17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6CBEA97-5037-2D99-CD22-E31DBA1882E8}"/>
              </a:ext>
            </a:extLst>
          </p:cNvPr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073ADF4-860C-CAD6-D6B6-B9D75A71072B}"/>
              </a:ext>
            </a:extLst>
          </p:cNvPr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FE60B6-3B8D-480D-15AD-1B4E21E36331}"/>
              </a:ext>
            </a:extLst>
          </p:cNvPr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E624DA3C-10C0-13F8-0BE5-8085E501AC76}"/>
              </a:ext>
            </a:extLst>
          </p:cNvPr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37324BD-F52A-F96F-76E2-B8E71424E649}"/>
              </a:ext>
            </a:extLst>
          </p:cNvPr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04D0F0-4625-0D4B-4B02-808031ADCA6F}"/>
              </a:ext>
            </a:extLst>
          </p:cNvPr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孔子之境 </a:t>
            </a:r>
            <a:r>
              <a:rPr kumimoji="0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· </a:t>
            </a: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智启论语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A89E8C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9D4516-2F9D-848F-A79C-0AFF5E853A5A}"/>
              </a:ext>
            </a:extLst>
          </p:cNvPr>
          <p:cNvSpPr txBox="1"/>
          <p:nvPr/>
        </p:nvSpPr>
        <p:spPr>
          <a:xfrm>
            <a:off x="1005840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三种问答模式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——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治学、修心、修身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1B1916"/>
              </a:solidFill>
              <a:effectLst/>
              <a:uLnTx/>
              <a:uFillTx/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96E69B0D-B6DC-38E0-F162-E8D9707D9F6E}"/>
              </a:ext>
            </a:extLst>
          </p:cNvPr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2">
            <a:extLst>
              <a:ext uri="{FF2B5EF4-FFF2-40B4-BE49-F238E27FC236}">
                <a16:creationId xmlns:a16="http://schemas.microsoft.com/office/drawing/2014/main" id="{9CADE554-9F29-E6C9-BC3F-3338104691E2}"/>
              </a:ext>
            </a:extLst>
          </p:cNvPr>
          <p:cNvSpPr/>
          <p:nvPr/>
        </p:nvSpPr>
        <p:spPr>
          <a:xfrm>
            <a:off x="1799909" y="1535755"/>
            <a:ext cx="1201071" cy="402336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3BA48039-29D9-5027-E253-A851C3CF60E0}"/>
              </a:ext>
            </a:extLst>
          </p:cNvPr>
          <p:cNvSpPr txBox="1"/>
          <p:nvPr/>
        </p:nvSpPr>
        <p:spPr>
          <a:xfrm>
            <a:off x="1904349" y="1540494"/>
            <a:ext cx="992189" cy="343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FFF8EE"/>
                </a:solidFill>
                <a:latin typeface="KaiTi"/>
                <a:ea typeface="KaiTi"/>
                <a:cs typeface="KaiTi"/>
              </a:rPr>
              <a:t>治学</a:t>
            </a:r>
            <a:endParaRPr sz="2000" b="1" dirty="0">
              <a:solidFill>
                <a:srgbClr val="FFF8EE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98A61CE7-6BFA-E99A-D529-5020533D9FD2}"/>
              </a:ext>
            </a:extLst>
          </p:cNvPr>
          <p:cNvSpPr/>
          <p:nvPr/>
        </p:nvSpPr>
        <p:spPr>
          <a:xfrm>
            <a:off x="5588203" y="1540494"/>
            <a:ext cx="1221616" cy="402336"/>
          </a:xfrm>
          <a:prstGeom prst="rect">
            <a:avLst/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2DFBA9E9-3C95-B5A7-40B2-84C6D2EDC8A7}"/>
              </a:ext>
            </a:extLst>
          </p:cNvPr>
          <p:cNvSpPr txBox="1"/>
          <p:nvPr/>
        </p:nvSpPr>
        <p:spPr>
          <a:xfrm>
            <a:off x="5658009" y="1545233"/>
            <a:ext cx="1082003" cy="343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FFF8EE"/>
                </a:solidFill>
                <a:latin typeface="KaiTi"/>
                <a:ea typeface="KaiTi"/>
                <a:cs typeface="KaiTi"/>
              </a:rPr>
              <a:t>修心</a:t>
            </a:r>
            <a:endParaRPr sz="2000" b="1" dirty="0">
              <a:solidFill>
                <a:srgbClr val="FFF8EE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37" name="Rectangle 20">
            <a:extLst>
              <a:ext uri="{FF2B5EF4-FFF2-40B4-BE49-F238E27FC236}">
                <a16:creationId xmlns:a16="http://schemas.microsoft.com/office/drawing/2014/main" id="{123BE6EE-1F59-BD69-3235-FF245A7D668C}"/>
              </a:ext>
            </a:extLst>
          </p:cNvPr>
          <p:cNvSpPr/>
          <p:nvPr/>
        </p:nvSpPr>
        <p:spPr>
          <a:xfrm>
            <a:off x="9232454" y="1539043"/>
            <a:ext cx="1327844" cy="402336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C1D73380-ED55-40DC-586C-96C2C88A1CEE}"/>
              </a:ext>
            </a:extLst>
          </p:cNvPr>
          <p:cNvSpPr txBox="1"/>
          <p:nvPr/>
        </p:nvSpPr>
        <p:spPr>
          <a:xfrm>
            <a:off x="9285568" y="1543782"/>
            <a:ext cx="1221616" cy="343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FFF8EE"/>
                </a:solidFill>
                <a:latin typeface="KaiTi"/>
                <a:ea typeface="KaiTi"/>
                <a:cs typeface="KaiTi"/>
              </a:rPr>
              <a:t>修身</a:t>
            </a:r>
            <a:endParaRPr sz="2000" b="1" dirty="0">
              <a:solidFill>
                <a:srgbClr val="FFF8EE"/>
              </a:solidFill>
              <a:latin typeface="KaiTi"/>
              <a:ea typeface="KaiTi"/>
              <a:cs typeface="KaiTi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CFA34D1D-5C08-CF78-D993-F44F2B406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67" y="2217291"/>
            <a:ext cx="3649199" cy="3758584"/>
          </a:xfrm>
          <a:prstGeom prst="roundRect">
            <a:avLst>
              <a:gd name="adj" fmla="val 3556"/>
            </a:avLst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F1809372-E568-92E9-2F27-1C68A4816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206" y="2231527"/>
            <a:ext cx="3649200" cy="3730360"/>
          </a:xfrm>
          <a:prstGeom prst="roundRect">
            <a:avLst>
              <a:gd name="adj" fmla="val 4246"/>
            </a:avLst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EBB57A90-5A86-F4C6-58F6-F2B0F47BB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946" y="2232718"/>
            <a:ext cx="3637618" cy="3729169"/>
          </a:xfrm>
          <a:prstGeom prst="roundRect">
            <a:avLst>
              <a:gd name="adj" fmla="val 3894"/>
            </a:avLst>
          </a:prstGeom>
        </p:spPr>
      </p:pic>
      <p:sp>
        <p:nvSpPr>
          <p:cNvPr id="64" name="矩形 63">
            <a:extLst>
              <a:ext uri="{FF2B5EF4-FFF2-40B4-BE49-F238E27FC236}">
                <a16:creationId xmlns:a16="http://schemas.microsoft.com/office/drawing/2014/main" id="{131DCA81-CBBA-6A5F-AE3B-5690A4AB1019}"/>
              </a:ext>
            </a:extLst>
          </p:cNvPr>
          <p:cNvSpPr/>
          <p:nvPr/>
        </p:nvSpPr>
        <p:spPr>
          <a:xfrm>
            <a:off x="4605867" y="3107267"/>
            <a:ext cx="2800773" cy="1617133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0B754C8-02C2-9FC9-E782-354A7DE8637A}"/>
              </a:ext>
            </a:extLst>
          </p:cNvPr>
          <p:cNvSpPr/>
          <p:nvPr/>
        </p:nvSpPr>
        <p:spPr>
          <a:xfrm>
            <a:off x="8383693" y="3040240"/>
            <a:ext cx="2800773" cy="1320093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6909809-2B05-CC21-8566-6B0D1BEC3A3A}"/>
              </a:ext>
            </a:extLst>
          </p:cNvPr>
          <p:cNvSpPr txBox="1"/>
          <p:nvPr/>
        </p:nvSpPr>
        <p:spPr>
          <a:xfrm>
            <a:off x="7418104" y="3283060"/>
            <a:ext cx="667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4309ABF-960F-474E-2F7A-97A946FE3154}"/>
              </a:ext>
            </a:extLst>
          </p:cNvPr>
          <p:cNvSpPr/>
          <p:nvPr/>
        </p:nvSpPr>
        <p:spPr>
          <a:xfrm>
            <a:off x="8414342" y="4526763"/>
            <a:ext cx="2800773" cy="1478631"/>
          </a:xfrm>
          <a:prstGeom prst="rect">
            <a:avLst/>
          </a:prstGeom>
          <a:noFill/>
          <a:ln w="285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899BBE4-18AF-9A0B-F8E2-1DD6328FAED3}"/>
              </a:ext>
            </a:extLst>
          </p:cNvPr>
          <p:cNvSpPr txBox="1"/>
          <p:nvPr/>
        </p:nvSpPr>
        <p:spPr>
          <a:xfrm>
            <a:off x="7448753" y="4769583"/>
            <a:ext cx="667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行为建议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E46D3AE-8EBA-0742-1AF2-BC3366B4EAA2}"/>
              </a:ext>
            </a:extLst>
          </p:cNvPr>
          <p:cNvSpPr/>
          <p:nvPr/>
        </p:nvSpPr>
        <p:spPr>
          <a:xfrm>
            <a:off x="4605866" y="4746897"/>
            <a:ext cx="2800773" cy="853244"/>
          </a:xfrm>
          <a:prstGeom prst="rect">
            <a:avLst/>
          </a:prstGeom>
          <a:noFill/>
          <a:ln w="285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CFA0206-A610-829F-577E-6D593625BF3A}"/>
              </a:ext>
            </a:extLst>
          </p:cNvPr>
          <p:cNvSpPr/>
          <p:nvPr/>
        </p:nvSpPr>
        <p:spPr>
          <a:xfrm>
            <a:off x="4617331" y="5633906"/>
            <a:ext cx="2800773" cy="386860"/>
          </a:xfrm>
          <a:prstGeom prst="rect">
            <a:avLst/>
          </a:prstGeom>
          <a:noFill/>
          <a:ln w="2857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F170966-7D2D-33B4-CD64-8726553F0BB2}"/>
              </a:ext>
            </a:extLst>
          </p:cNvPr>
          <p:cNvSpPr txBox="1"/>
          <p:nvPr/>
        </p:nvSpPr>
        <p:spPr>
          <a:xfrm>
            <a:off x="7435544" y="5544653"/>
            <a:ext cx="667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引用出处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6AA6FD2F-88D1-E73C-B02E-DCE4175459A1}"/>
              </a:ext>
            </a:extLst>
          </p:cNvPr>
          <p:cNvSpPr/>
          <p:nvPr/>
        </p:nvSpPr>
        <p:spPr>
          <a:xfrm>
            <a:off x="7026988" y="6248467"/>
            <a:ext cx="1267973" cy="461499"/>
          </a:xfrm>
          <a:prstGeom prst="roundRect">
            <a:avLst>
              <a:gd name="adj" fmla="val 38553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可溯源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0363FF43-39A2-2DC2-EFCB-59C309D652A9}"/>
              </a:ext>
            </a:extLst>
          </p:cNvPr>
          <p:cNvSpPr/>
          <p:nvPr/>
        </p:nvSpPr>
        <p:spPr>
          <a:xfrm>
            <a:off x="5279285" y="6248467"/>
            <a:ext cx="1267973" cy="461499"/>
          </a:xfrm>
          <a:prstGeom prst="roundRect">
            <a:avLst>
              <a:gd name="adj" fmla="val 38553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给建议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2904924C-014B-ED28-795A-ED6F0E4BB6A3}"/>
              </a:ext>
            </a:extLst>
          </p:cNvPr>
          <p:cNvSpPr/>
          <p:nvPr/>
        </p:nvSpPr>
        <p:spPr>
          <a:xfrm>
            <a:off x="3531583" y="6257326"/>
            <a:ext cx="1267973" cy="461499"/>
          </a:xfrm>
          <a:prstGeom prst="roundRect">
            <a:avLst>
              <a:gd name="adj" fmla="val 38553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有依据</a:t>
            </a:r>
          </a:p>
        </p:txBody>
      </p:sp>
    </p:spTree>
    <p:extLst>
      <p:ext uri="{BB962C8B-B14F-4D97-AF65-F5344CB8AC3E}">
        <p14:creationId xmlns:p14="http://schemas.microsoft.com/office/powerpoint/2010/main" val="332666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453D34"/>
                </a:solidFill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先贤对话：孔门十七人，各有各的性情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1566896"/>
            <a:ext cx="960120" cy="530352"/>
          </a:xfrm>
          <a:prstGeom prst="roundRect">
            <a:avLst>
              <a:gd name="adj" fmla="val 28000"/>
            </a:avLst>
          </a:prstGeom>
          <a:solidFill>
            <a:srgbClr val="2F4A40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德行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38528" y="1566896"/>
            <a:ext cx="4971630" cy="530352"/>
          </a:xfrm>
          <a:prstGeom prst="roundRect">
            <a:avLst>
              <a:gd name="adj" fmla="val 12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94560" y="1621760"/>
            <a:ext cx="8961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颜回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闵子骞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仲弓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曾参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曾点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樊迟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司马牛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高柴</a:t>
            </a:r>
            <a:endParaRPr sz="128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2225264"/>
            <a:ext cx="960120" cy="530352"/>
          </a:xfrm>
          <a:prstGeom prst="roundRect">
            <a:avLst>
              <a:gd name="adj" fmla="val 28000"/>
            </a:avLst>
          </a:prstGeom>
          <a:solidFill>
            <a:srgbClr val="9C2F26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政事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38528" y="2225264"/>
            <a:ext cx="4971630" cy="530352"/>
          </a:xfrm>
          <a:prstGeom prst="roundRect">
            <a:avLst>
              <a:gd name="adj" fmla="val 12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94560" y="2280128"/>
            <a:ext cx="8961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子路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冉求</a:t>
            </a:r>
            <a:endParaRPr sz="128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8680" y="2883632"/>
            <a:ext cx="960120" cy="530352"/>
          </a:xfrm>
          <a:prstGeom prst="roundRect">
            <a:avLst>
              <a:gd name="adj" fmla="val 28000"/>
            </a:avLst>
          </a:prstGeom>
          <a:solidFill>
            <a:srgbClr val="B08D57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言语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38528" y="2883632"/>
            <a:ext cx="4971630" cy="530352"/>
          </a:xfrm>
          <a:prstGeom prst="roundRect">
            <a:avLst>
              <a:gd name="adj" fmla="val 12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94560" y="2938496"/>
            <a:ext cx="8961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子贡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宰予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子张</a:t>
            </a:r>
            <a:r>
              <a:rPr sz="128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公西华</a:t>
            </a:r>
            <a:endParaRPr sz="128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8680" y="3542000"/>
            <a:ext cx="960120" cy="530352"/>
          </a:xfrm>
          <a:prstGeom prst="roundRect">
            <a:avLst>
              <a:gd name="adj" fmla="val 28000"/>
            </a:avLst>
          </a:prstGeom>
          <a:solidFill>
            <a:srgbClr val="40695A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文学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38528" y="3542000"/>
            <a:ext cx="4971630" cy="530352"/>
          </a:xfrm>
          <a:prstGeom prst="roundRect">
            <a:avLst>
              <a:gd name="adj" fmla="val 12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94560" y="3596863"/>
            <a:ext cx="8961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80" b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子游 · 子夏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200368"/>
            <a:ext cx="960120" cy="530352"/>
          </a:xfrm>
          <a:prstGeom prst="roundRect">
            <a:avLst>
              <a:gd name="adj" fmla="val 28000"/>
            </a:avLst>
          </a:prstGeom>
          <a:solidFill>
            <a:srgbClr val="9C2F26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总持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38528" y="4200368"/>
            <a:ext cx="4971630" cy="530352"/>
          </a:xfrm>
          <a:prstGeom prst="roundRect">
            <a:avLst>
              <a:gd name="adj" fmla="val 12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94560" y="4349966"/>
            <a:ext cx="8961120" cy="2311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8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孔子</a:t>
            </a:r>
            <a:endParaRPr sz="128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68679" y="4970471"/>
            <a:ext cx="6041479" cy="1078992"/>
          </a:xfrm>
          <a:prstGeom prst="roundRect">
            <a:avLst>
              <a:gd name="adj" fmla="val 6000"/>
            </a:avLst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0584" rIns="201168" bIns="100584" rtlCol="0" anchor="ctr"/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zh-CN" sz="119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17</a:t>
            </a:r>
            <a:r>
              <a:rPr lang="zh-CN" altLang="en-US" sz="119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人各有独立的人设，区分腔调、性情、性格、处事风格 </a:t>
            </a:r>
            <a:r>
              <a:rPr lang="en-US" altLang="zh-CN" sz="1190" b="1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——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zh-CN" altLang="en-US" sz="1190" b="0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例如：</a:t>
            </a:r>
            <a:r>
              <a:rPr lang="zh-CN" altLang="en-US" sz="1190" dirty="0">
                <a:solidFill>
                  <a:srgbClr val="FFF8EE"/>
                </a:solidFill>
                <a:latin typeface="Microsoft YaHei"/>
                <a:ea typeface="Microsoft YaHei"/>
                <a:cs typeface="Microsoft YaHei"/>
              </a:rPr>
              <a:t>子路催你先干起来，颜回陪你安贫乐道，子贡教你体面认错，宰予劝你睡个午觉再说，司马牛和你一起唉声叹气。</a:t>
            </a:r>
            <a:endParaRPr sz="1190" b="0" dirty="0">
              <a:solidFill>
                <a:srgbClr val="FFF8EE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F0B40C96-7CCD-4C41-B60E-53C95C834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5"/>
          <a:stretch>
            <a:fillRect/>
          </a:stretch>
        </p:blipFill>
        <p:spPr>
          <a:xfrm>
            <a:off x="7403640" y="1465454"/>
            <a:ext cx="3919680" cy="4584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50208F91-20FE-05B0-915B-2202014A9347}"/>
              </a:ext>
            </a:extLst>
          </p:cNvPr>
          <p:cNvSpPr txBox="1"/>
          <p:nvPr/>
        </p:nvSpPr>
        <p:spPr>
          <a:xfrm>
            <a:off x="8619395" y="6287206"/>
            <a:ext cx="1758194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30" b="1" dirty="0">
                <a:solidFill>
                  <a:srgbClr val="7C7364"/>
                </a:solidFill>
                <a:latin typeface="Microsoft YaHei"/>
                <a:ea typeface="Microsoft YaHei"/>
              </a:rPr>
              <a:t>个人资料卡</a:t>
            </a:r>
            <a:r>
              <a:rPr lang="en-US" altLang="zh-CN" sz="1130" b="1" dirty="0">
                <a:solidFill>
                  <a:srgbClr val="7C7364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1130" b="1" dirty="0">
                <a:solidFill>
                  <a:srgbClr val="7C7364"/>
                </a:solidFill>
                <a:latin typeface="Microsoft YaHei"/>
                <a:ea typeface="Microsoft YaHei"/>
              </a:rPr>
              <a:t>颜回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453D34"/>
                </a:solidFill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345936"/>
            <a:ext cx="1307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7C7364"/>
                </a:solidFill>
                <a:latin typeface="Microsoft YaHei"/>
                <a:ea typeface="Microsoft YaHei"/>
                <a:cs typeface="Microsoft YaHei"/>
              </a:rPr>
              <a:t>16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围坐与私聊：十七个人，十七种腔调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40" name="Rounded Rectangle 19">
            <a:extLst>
              <a:ext uri="{FF2B5EF4-FFF2-40B4-BE49-F238E27FC236}">
                <a16:creationId xmlns:a16="http://schemas.microsoft.com/office/drawing/2014/main" id="{993AEA42-0B46-3E01-B793-74BAEF568BE9}"/>
              </a:ext>
            </a:extLst>
          </p:cNvPr>
          <p:cNvSpPr/>
          <p:nvPr/>
        </p:nvSpPr>
        <p:spPr>
          <a:xfrm>
            <a:off x="6977670" y="1204984"/>
            <a:ext cx="4780655" cy="5570164"/>
          </a:xfrm>
          <a:prstGeom prst="roundRect">
            <a:avLst>
              <a:gd name="adj" fmla="val 3000"/>
            </a:avLst>
          </a:prstGeom>
          <a:solidFill>
            <a:srgbClr val="F7F2E5"/>
          </a:solidFill>
          <a:ln w="15875">
            <a:solidFill>
              <a:srgbClr val="B08D5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41464" y="1310600"/>
            <a:ext cx="1399032" cy="402336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KaiTi"/>
                <a:ea typeface="KaiTi"/>
                <a:cs typeface="KaiTi"/>
              </a:rPr>
              <a:t>各言尔志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31936" y="1310600"/>
            <a:ext cx="1399032" cy="402336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KaiTi"/>
                <a:ea typeface="KaiTi"/>
                <a:cs typeface="KaiTi"/>
              </a:rPr>
              <a:t>侍坐言志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22408" y="1310600"/>
            <a:ext cx="1399032" cy="402336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KaiTi"/>
                <a:ea typeface="KaiTi"/>
                <a:cs typeface="KaiTi"/>
              </a:rPr>
              <a:t>宰予昼寝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1464" y="1767800"/>
            <a:ext cx="1399032" cy="402336"/>
          </a:xfrm>
          <a:prstGeom prst="roundRect">
            <a:avLst>
              <a:gd name="adj" fmla="val 28000"/>
            </a:avLst>
          </a:prstGeom>
          <a:solidFill>
            <a:srgbClr val="9C2F26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 dirty="0" err="1">
                <a:solidFill>
                  <a:schemeClr val="bg1"/>
                </a:solidFill>
                <a:latin typeface="KaiTi"/>
                <a:ea typeface="KaiTi"/>
                <a:cs typeface="KaiTi"/>
              </a:rPr>
              <a:t>樊迟学稼</a:t>
            </a:r>
            <a:endParaRPr sz="1200" b="1" dirty="0">
              <a:solidFill>
                <a:schemeClr val="bg1"/>
              </a:solidFill>
              <a:latin typeface="KaiTi"/>
              <a:ea typeface="KaiTi"/>
              <a:cs typeface="KaiT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31936" y="1767800"/>
            <a:ext cx="1399032" cy="402336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KaiTi"/>
                <a:ea typeface="KaiTi"/>
                <a:cs typeface="KaiTi"/>
              </a:rPr>
              <a:t>武城弦歌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22408" y="1767800"/>
            <a:ext cx="1399032" cy="402336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KaiTi"/>
                <a:ea typeface="KaiTi"/>
                <a:cs typeface="KaiTi"/>
              </a:rPr>
              <a:t>在陈绝粮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41464" y="2225000"/>
            <a:ext cx="1399032" cy="402336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453D34"/>
                </a:solidFill>
                <a:latin typeface="KaiTi"/>
                <a:ea typeface="KaiTi"/>
                <a:cs typeface="KaiTi"/>
              </a:rPr>
              <a:t>子见南子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857FAFD7-7F80-7FAF-6EA9-357CB8050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70430" y="2698463"/>
            <a:ext cx="4454642" cy="3952711"/>
          </a:xfrm>
          <a:prstGeom prst="roundRect">
            <a:avLst>
              <a:gd name="adj" fmla="val 4091"/>
            </a:avLst>
          </a:prstGeom>
          <a:ln>
            <a:solidFill>
              <a:srgbClr val="B08D57"/>
            </a:solidFill>
          </a:ln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B2288581-351F-C082-B739-CAFAF3726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96" y="3108077"/>
            <a:ext cx="5613434" cy="3123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7E0088F7-450D-1AC9-585E-9B031C8F69B2}"/>
              </a:ext>
            </a:extLst>
          </p:cNvPr>
          <p:cNvSpPr/>
          <p:nvPr/>
        </p:nvSpPr>
        <p:spPr>
          <a:xfrm>
            <a:off x="888748" y="1435609"/>
            <a:ext cx="5515243" cy="1395041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C5FBB1F6-70BD-7C23-F822-19994DD321EA}"/>
              </a:ext>
            </a:extLst>
          </p:cNvPr>
          <p:cNvSpPr txBox="1"/>
          <p:nvPr/>
        </p:nvSpPr>
        <p:spPr>
          <a:xfrm>
            <a:off x="1080737" y="1538315"/>
            <a:ext cx="4890761" cy="1150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US" altLang="zh-CN" sz="1450" b="1" dirty="0">
                <a:solidFill>
                  <a:srgbClr val="9C2F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01 </a:t>
            </a:r>
            <a:r>
              <a:rPr lang="zh-CN" altLang="en-US" sz="1450" b="1" dirty="0">
                <a:solidFill>
                  <a:srgbClr val="9C2F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围坐（群聊）</a:t>
            </a:r>
            <a:endParaRPr sz="1450" b="1" dirty="0">
              <a:solidFill>
                <a:srgbClr val="9C2F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KaiTi"/>
            </a:endParaRPr>
          </a:p>
          <a:p>
            <a:pPr marL="171450" indent="-171450" algn="just">
              <a:lnSpc>
                <a:spcPct val="134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百家争鸣：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多位先贤先后发言，各抒己见（孔子必到，其余随机）</a:t>
            </a:r>
          </a:p>
          <a:p>
            <a:pPr marL="171450" indent="-171450" algn="just">
              <a:lnSpc>
                <a:spcPct val="134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查阅档案：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点击头像可查看弟子个人资料卡，支持一键跳转私聊</a:t>
            </a:r>
          </a:p>
          <a:p>
            <a:pPr marL="171450" indent="-171450" algn="just">
              <a:lnSpc>
                <a:spcPct val="134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140" b="1" dirty="0">
                <a:solidFill>
                  <a:srgbClr val="453D34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场景还原：</a:t>
            </a:r>
            <a:r>
              <a:rPr lang="zh-CN" altLang="en-US" sz="1140" dirty="0">
                <a:solidFill>
                  <a:srgbClr val="453D34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以群聊形式，重现七个</a:t>
            </a:r>
            <a:r>
              <a:rPr lang="en-US" altLang="zh-CN" sz="1140" dirty="0">
                <a:solidFill>
                  <a:srgbClr val="453D34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《</a:t>
            </a:r>
            <a:r>
              <a:rPr lang="zh-CN" altLang="en-US" sz="1140" dirty="0">
                <a:solidFill>
                  <a:srgbClr val="453D34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论语</a:t>
            </a:r>
            <a:r>
              <a:rPr lang="en-US" altLang="zh-CN" sz="1140" dirty="0">
                <a:solidFill>
                  <a:srgbClr val="453D34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》</a:t>
            </a:r>
            <a:r>
              <a:rPr lang="zh-CN" altLang="en-US" sz="1140" dirty="0">
                <a:solidFill>
                  <a:srgbClr val="453D34"/>
                </a:solidFill>
                <a:highlight>
                  <a:srgbClr val="FFFF00"/>
                </a:highlight>
                <a:latin typeface="Microsoft YaHei"/>
                <a:ea typeface="Microsoft YaHei"/>
              </a:rPr>
              <a:t>经典名场面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B8DF-9B36-2929-2C31-FEB2B4115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C49805-87CB-1CB8-CBC8-BCEC86B0010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0C78C2-7EDA-1366-3541-F5D02E7CEDCD}"/>
              </a:ext>
            </a:extLst>
          </p:cNvPr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504039-F869-18BF-1CC8-1A8500D28A31}"/>
              </a:ext>
            </a:extLst>
          </p:cNvPr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05453-4A8A-C7B4-A4F5-A1AE0C3F027B}"/>
              </a:ext>
            </a:extLst>
          </p:cNvPr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5E3751-B417-BDD7-ACA6-8B26157B2B5A}"/>
              </a:ext>
            </a:extLst>
          </p:cNvPr>
          <p:cNvSpPr txBox="1"/>
          <p:nvPr/>
        </p:nvSpPr>
        <p:spPr>
          <a:xfrm>
            <a:off x="1005840" y="475488"/>
            <a:ext cx="8778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围坐与私聊：十七个人，十七种腔调</a:t>
            </a: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4F4AEF35-D8FC-8CB2-1DD1-C93C03745F56}"/>
              </a:ext>
            </a:extLst>
          </p:cNvPr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6572D6A3-13CC-D300-A61C-CD771DA0FD6C}"/>
              </a:ext>
            </a:extLst>
          </p:cNvPr>
          <p:cNvSpPr/>
          <p:nvPr/>
        </p:nvSpPr>
        <p:spPr>
          <a:xfrm>
            <a:off x="888749" y="1587995"/>
            <a:ext cx="5243588" cy="1395041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EBEC32F1-0363-29C4-ECA7-F196097155CE}"/>
              </a:ext>
            </a:extLst>
          </p:cNvPr>
          <p:cNvSpPr txBox="1"/>
          <p:nvPr/>
        </p:nvSpPr>
        <p:spPr>
          <a:xfrm>
            <a:off x="1080737" y="1690701"/>
            <a:ext cx="4890761" cy="1099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50" b="1" i="0" u="none" strike="noStrike" kern="1200" cap="none" spc="0" normalizeH="0" baseline="0" noProof="0" dirty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02 </a:t>
            </a:r>
            <a:r>
              <a:rPr lang="zh-CN" altLang="en-US" sz="1450" b="1" dirty="0">
                <a:solidFill>
                  <a:srgbClr val="9C2F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KaiTi"/>
              </a:rPr>
              <a:t>私聊</a:t>
            </a:r>
            <a:endParaRPr kumimoji="0" sz="1450" b="1" i="0" u="none" strike="noStrike" kern="1200" cap="none" spc="0" normalizeH="0" baseline="0" noProof="0" dirty="0">
              <a:ln>
                <a:noFill/>
              </a:ln>
              <a:solidFill>
                <a:srgbClr val="9C2F2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KaiTi"/>
            </a:endParaRPr>
          </a:p>
          <a:p>
            <a:pPr marL="171450" marR="0" lvl="0" indent="-171450" algn="just" defTabSz="457200" rtl="0" eaLnBrk="1" fontAlgn="auto" latinLnBrk="0" hangingPunct="1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40" b="1" i="0" u="none" strike="noStrike" kern="1200" cap="none" spc="0" normalizeH="0" baseline="0" noProof="0" dirty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自由对话：</a:t>
            </a:r>
            <a:r>
              <a:rPr kumimoji="0" lang="zh-CN" altLang="en-US" sz="1140" i="0" u="none" strike="noStrike" kern="1200" cap="none" spc="0" normalizeH="0" baseline="0" noProof="0" dirty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任选先贤开启私聊，先贤回复的末尾，会附上引经据典的文章目录，点击即可展开，溯源具体章句。</a:t>
            </a:r>
            <a:endParaRPr kumimoji="0" lang="en-US" altLang="zh-CN" sz="1140" i="0" u="none" strike="noStrike" kern="1200" cap="none" spc="0" normalizeH="0" baseline="0" noProof="0" dirty="0">
              <a:ln>
                <a:noFill/>
              </a:ln>
              <a:solidFill>
                <a:srgbClr val="453D34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171450" indent="-171450" algn="just">
              <a:lnSpc>
                <a:spcPct val="134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140" b="1" dirty="0">
                <a:solidFill>
                  <a:srgbClr val="453D34"/>
                </a:solidFill>
                <a:latin typeface="Microsoft YaHei"/>
                <a:ea typeface="Microsoft YaHei"/>
              </a:rPr>
              <a:t>查阅档案：</a:t>
            </a:r>
            <a:r>
              <a:rPr lang="zh-CN" altLang="en-US" sz="1140" dirty="0">
                <a:solidFill>
                  <a:srgbClr val="453D34"/>
                </a:solidFill>
                <a:latin typeface="Microsoft YaHei"/>
                <a:ea typeface="Microsoft YaHei"/>
              </a:rPr>
              <a:t>点击头像可查看弟子个人资料卡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F854FDA-2C48-9875-4388-5EB478D9C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31" y="1284518"/>
            <a:ext cx="5120077" cy="2631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F9ADA37-6642-094F-C688-78089CD9A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431" y="4066482"/>
            <a:ext cx="5120077" cy="26337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C552859-A8DC-E6D7-9327-5BB07C408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29000"/>
            <a:ext cx="5126496" cy="2863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8062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453D34"/>
                </a:solidFill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9848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风骨创作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2357435"/>
            <a:ext cx="1942185" cy="2453897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69848" y="252202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070668"/>
            <a:ext cx="1539849" cy="1398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4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性格测试</a:t>
            </a:r>
            <a:endParaRPr sz="14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完成 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8 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道测试题，全面评估学习态度、处事方式、情绪管理、社交倾向及价值取向等维度。</a:t>
            </a:r>
            <a:endParaRPr sz="11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10865" y="2357436"/>
            <a:ext cx="201168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2033" y="2357435"/>
            <a:ext cx="1942185" cy="2453897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13201" y="252202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3201" y="3070668"/>
            <a:ext cx="1539849" cy="1144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4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专属人设卡</a:t>
            </a:r>
            <a:endParaRPr sz="14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根据主德、次德生成名号与座右铭。标签及分析均出自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论语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》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并标注篇名。</a:t>
            </a:r>
            <a:endParaRPr sz="11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4219" y="2357436"/>
            <a:ext cx="201168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55387" y="2357435"/>
            <a:ext cx="1942185" cy="2453897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56555" y="252202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6555" y="3070668"/>
            <a:ext cx="1539849" cy="1144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4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形象</a:t>
            </a:r>
            <a:r>
              <a:rPr lang="zh-CN" altLang="en-US" sz="14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生成</a:t>
            </a:r>
            <a:endParaRPr sz="14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zh-CN" altLang="en-US" sz="110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上传正面半身照，选择形象性别，生成保留五官神态的古风数字人形象。</a:t>
            </a:r>
            <a:endParaRPr sz="11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97572" y="2357436"/>
            <a:ext cx="201168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8740" y="2357435"/>
            <a:ext cx="1942185" cy="2453897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499908" y="252202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9908" y="3070668"/>
            <a:ext cx="1539849" cy="1398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4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专属音色</a:t>
            </a:r>
            <a:endParaRPr sz="14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提供 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12 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10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CosyVoice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预置音色供试听选择；亦支持上传 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10-20 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秒清晰人声，进行音色克隆。</a:t>
            </a:r>
            <a:endParaRPr sz="11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0926" y="2357436"/>
            <a:ext cx="201168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B08D5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42094" y="2357435"/>
            <a:ext cx="1942185" cy="2453897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43262" y="252202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3262" y="3070668"/>
            <a:ext cx="1539849" cy="1398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lang="zh-CN" altLang="en-US" sz="14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数字人</a:t>
            </a:r>
            <a:r>
              <a:rPr sz="14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短片</a:t>
            </a:r>
            <a:endParaRPr sz="14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支持自定义文案或一键生成 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150-180 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字旁白。合成语音驱动数字人，产出可预览、下载的短视频。</a:t>
            </a:r>
            <a:endParaRPr sz="11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66832-88DF-48E5-EE32-3604D06E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64AECF-6512-B677-0D58-E03637CC38E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3216ECE-620E-824D-A3DC-F7D215440DC3}"/>
              </a:ext>
            </a:extLst>
          </p:cNvPr>
          <p:cNvCxnSpPr>
            <a:cxnSpLocks/>
          </p:cNvCxnSpPr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74AABF4-4D03-58DA-FE0E-07938C3D582B}"/>
              </a:ext>
            </a:extLst>
          </p:cNvPr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371A83-DDD0-B822-CFF6-91B86E018396}"/>
              </a:ext>
            </a:extLst>
          </p:cNvPr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BAC7C469-CFBD-8F29-9D16-A72F5E933B5A}"/>
              </a:ext>
            </a:extLst>
          </p:cNvPr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7103ADA-4C1A-4BEE-F920-9E0B3192E49F}"/>
              </a:ext>
            </a:extLst>
          </p:cNvPr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A830EB-C398-A16F-C249-660E9C39D7C9}"/>
              </a:ext>
            </a:extLst>
          </p:cNvPr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孔子之境 </a:t>
            </a:r>
            <a:r>
              <a:rPr kumimoji="0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· </a:t>
            </a: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智启论语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A89E8C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5DDE8-34FF-3645-032F-EAFBFD3E0569}"/>
              </a:ext>
            </a:extLst>
          </p:cNvPr>
          <p:cNvSpPr txBox="1"/>
          <p:nvPr/>
        </p:nvSpPr>
        <p:spPr>
          <a:xfrm>
            <a:off x="1069848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风骨创作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1B1916"/>
              </a:solidFill>
              <a:effectLst/>
              <a:uLnTx/>
              <a:uFillTx/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DB2BFD04-84C1-3CAD-E9D4-70A292448613}"/>
              </a:ext>
            </a:extLst>
          </p:cNvPr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312DE50-A7D9-82BC-C5B5-9584FB065B49}"/>
              </a:ext>
            </a:extLst>
          </p:cNvPr>
          <p:cNvSpPr/>
          <p:nvPr/>
        </p:nvSpPr>
        <p:spPr>
          <a:xfrm>
            <a:off x="868680" y="2357435"/>
            <a:ext cx="1942185" cy="2453897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99719AB-93C2-CC13-5A4F-193DB1412139}"/>
              </a:ext>
            </a:extLst>
          </p:cNvPr>
          <p:cNvSpPr/>
          <p:nvPr/>
        </p:nvSpPr>
        <p:spPr>
          <a:xfrm>
            <a:off x="1069848" y="252202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6883B-CCCF-F59C-BB1D-014A66EFC651}"/>
              </a:ext>
            </a:extLst>
          </p:cNvPr>
          <p:cNvSpPr txBox="1"/>
          <p:nvPr/>
        </p:nvSpPr>
        <p:spPr>
          <a:xfrm>
            <a:off x="1069848" y="3070668"/>
            <a:ext cx="1539849" cy="1398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性格测试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1B1916"/>
              </a:solidFill>
              <a:effectLst/>
              <a:uLnTx/>
              <a:uFillTx/>
              <a:latin typeface="KaiTi"/>
              <a:ea typeface="KaiTi"/>
              <a:cs typeface="KaiTi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完成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8 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道测试题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，评估学习态度、处事方式、情绪管理、社交倾向及价值取向等维度。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453D34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9AF9CDC3-B73F-B44D-669D-39A09D1B4B5D}"/>
              </a:ext>
            </a:extLst>
          </p:cNvPr>
          <p:cNvSpPr/>
          <p:nvPr/>
        </p:nvSpPr>
        <p:spPr>
          <a:xfrm>
            <a:off x="1541273" y="5129022"/>
            <a:ext cx="478028" cy="677164"/>
          </a:xfrm>
          <a:prstGeom prst="downArrow">
            <a:avLst>
              <a:gd name="adj1" fmla="val 39373"/>
              <a:gd name="adj2" fmla="val 73700"/>
            </a:avLst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CAE5280E-CD96-C9BB-C9F7-B53C8EB35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616" y="1501254"/>
            <a:ext cx="8379867" cy="45594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9792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775AF-BA3E-EC9B-DED6-983272A7A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852FBD-B900-CB82-F1D4-E4E9BF2F934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8AE2437D-3FFC-A5B1-1641-4540ED3560D4}"/>
              </a:ext>
            </a:extLst>
          </p:cNvPr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21694D0-0811-B0B5-DF75-54D9F2F47A1C}"/>
              </a:ext>
            </a:extLst>
          </p:cNvPr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CF0752-F83B-FFE6-0D5E-F8E638A881AA}"/>
              </a:ext>
            </a:extLst>
          </p:cNvPr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354C2E0-BF1A-8602-F065-0B90934C3208}"/>
              </a:ext>
            </a:extLst>
          </p:cNvPr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050DA0F-947E-76CA-1B08-BF338FBB1490}"/>
              </a:ext>
            </a:extLst>
          </p:cNvPr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75A5B-192E-78AD-F241-E170DCF8509A}"/>
              </a:ext>
            </a:extLst>
          </p:cNvPr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孔子之境 </a:t>
            </a:r>
            <a:r>
              <a:rPr kumimoji="0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· </a:t>
            </a: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智启论语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A89E8C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09497-8B43-A3AD-E4EA-7C6965327B94}"/>
              </a:ext>
            </a:extLst>
          </p:cNvPr>
          <p:cNvSpPr txBox="1"/>
          <p:nvPr/>
        </p:nvSpPr>
        <p:spPr>
          <a:xfrm>
            <a:off x="1069848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风骨创作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1B1916"/>
              </a:solidFill>
              <a:effectLst/>
              <a:uLnTx/>
              <a:uFillTx/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B1B70554-CD26-1A86-84BA-7F7A4D45B97F}"/>
              </a:ext>
            </a:extLst>
          </p:cNvPr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A167071-7904-5512-2E01-9682BB221FED}"/>
              </a:ext>
            </a:extLst>
          </p:cNvPr>
          <p:cNvSpPr/>
          <p:nvPr/>
        </p:nvSpPr>
        <p:spPr>
          <a:xfrm>
            <a:off x="868680" y="2357435"/>
            <a:ext cx="1942185" cy="2453897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3C0B17E-B129-A987-4FEB-DBA13020A351}"/>
              </a:ext>
            </a:extLst>
          </p:cNvPr>
          <p:cNvSpPr/>
          <p:nvPr/>
        </p:nvSpPr>
        <p:spPr>
          <a:xfrm>
            <a:off x="1069848" y="252202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4ED65F-666C-F4D7-3A8F-E639E2239027}"/>
              </a:ext>
            </a:extLst>
          </p:cNvPr>
          <p:cNvSpPr txBox="1"/>
          <p:nvPr/>
        </p:nvSpPr>
        <p:spPr>
          <a:xfrm>
            <a:off x="1069848" y="3070668"/>
            <a:ext cx="1539849" cy="1652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专属人设卡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1B1916"/>
              </a:solidFill>
              <a:effectLst/>
              <a:uLnTx/>
              <a:uFillTx/>
              <a:latin typeface="KaiTi"/>
              <a:ea typeface="KaiTi"/>
              <a:cs typeface="KaiTi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根据主德、次德生成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名号、座右铭</a:t>
            </a:r>
            <a:r>
              <a:rPr lang="zh-CN" altLang="en-US" sz="110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、行为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标签</a:t>
            </a:r>
            <a:r>
              <a:rPr lang="zh-CN" altLang="en-US" sz="110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以及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分析。</a:t>
            </a:r>
            <a:endParaRPr lang="en-US" altLang="zh-CN" sz="1100" b="1" dirty="0">
              <a:solidFill>
                <a:srgbClr val="9C2F26"/>
              </a:solidFill>
              <a:latin typeface="Microsoft YaHei"/>
              <a:ea typeface="Microsoft YaHei"/>
              <a:cs typeface="Microsoft YaHei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座右铭</a:t>
            </a:r>
            <a:r>
              <a:rPr kumimoji="0" lang="zh-CN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均出自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《</a:t>
            </a:r>
            <a:r>
              <a:rPr kumimoji="0" lang="zh-CN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论语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》</a:t>
            </a:r>
            <a:r>
              <a:rPr kumimoji="0" lang="zh-CN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并标注篇名。</a:t>
            </a:r>
            <a:endParaRPr kumimoji="0" sz="1100" i="0" u="none" strike="noStrike" kern="1200" cap="none" spc="0" normalizeH="0" baseline="0" noProof="0" dirty="0">
              <a:ln>
                <a:noFill/>
              </a:ln>
              <a:solidFill>
                <a:srgbClr val="453D34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378B47BE-72DE-3098-C486-32C9B95B13D1}"/>
              </a:ext>
            </a:extLst>
          </p:cNvPr>
          <p:cNvSpPr/>
          <p:nvPr/>
        </p:nvSpPr>
        <p:spPr>
          <a:xfrm>
            <a:off x="1541273" y="5129022"/>
            <a:ext cx="478028" cy="677164"/>
          </a:xfrm>
          <a:prstGeom prst="downArrow">
            <a:avLst>
              <a:gd name="adj1" fmla="val 39373"/>
              <a:gd name="adj2" fmla="val 73700"/>
            </a:avLst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5C58040A-7F36-E1F2-35A0-E66A2D185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374" y="1458246"/>
            <a:ext cx="8572498" cy="4663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1593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C128B-D88E-B159-ED64-F6F76941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12F1F7-5FEA-C351-31B1-92F6AE3C708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6E627ADF-B7A6-6517-CFEA-5433938F7F19}"/>
              </a:ext>
            </a:extLst>
          </p:cNvPr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3DD43BC-D349-BF97-C63E-A0FFDA91D584}"/>
              </a:ext>
            </a:extLst>
          </p:cNvPr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85CDE8-5AEF-8107-E2EA-B49E2E799505}"/>
              </a:ext>
            </a:extLst>
          </p:cNvPr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25B0835-7B0E-78DC-86B5-863B7C625155}"/>
              </a:ext>
            </a:extLst>
          </p:cNvPr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1690D1-4759-0F0F-C74A-1F519094D141}"/>
              </a:ext>
            </a:extLst>
          </p:cNvPr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643E8-4851-35DB-0D79-1D3A436EA3E4}"/>
              </a:ext>
            </a:extLst>
          </p:cNvPr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孔子之境 </a:t>
            </a:r>
            <a:r>
              <a:rPr kumimoji="0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· </a:t>
            </a: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智启论语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A89E8C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FB9B28-FA4B-E432-60D8-90C23629B7E6}"/>
              </a:ext>
            </a:extLst>
          </p:cNvPr>
          <p:cNvSpPr txBox="1"/>
          <p:nvPr/>
        </p:nvSpPr>
        <p:spPr>
          <a:xfrm>
            <a:off x="1069848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风骨创作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1B1916"/>
              </a:solidFill>
              <a:effectLst/>
              <a:uLnTx/>
              <a:uFillTx/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A552DC6A-B1AE-4EE3-3DA3-D5E097238FE6}"/>
              </a:ext>
            </a:extLst>
          </p:cNvPr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箭头: 下 31">
            <a:extLst>
              <a:ext uri="{FF2B5EF4-FFF2-40B4-BE49-F238E27FC236}">
                <a16:creationId xmlns:a16="http://schemas.microsoft.com/office/drawing/2014/main" id="{4E0E6ABD-9A2C-4201-80F4-5C4025BF01D2}"/>
              </a:ext>
            </a:extLst>
          </p:cNvPr>
          <p:cNvSpPr/>
          <p:nvPr/>
        </p:nvSpPr>
        <p:spPr>
          <a:xfrm>
            <a:off x="1541273" y="5129022"/>
            <a:ext cx="478028" cy="677164"/>
          </a:xfrm>
          <a:prstGeom prst="downArrow">
            <a:avLst>
              <a:gd name="adj1" fmla="val 39373"/>
              <a:gd name="adj2" fmla="val 73700"/>
            </a:avLst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8E31FD3B-CE59-C7DD-0269-630D2A6C59B0}"/>
              </a:ext>
            </a:extLst>
          </p:cNvPr>
          <p:cNvSpPr/>
          <p:nvPr/>
        </p:nvSpPr>
        <p:spPr>
          <a:xfrm>
            <a:off x="833021" y="2357435"/>
            <a:ext cx="1942185" cy="2453897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21">
            <a:extLst>
              <a:ext uri="{FF2B5EF4-FFF2-40B4-BE49-F238E27FC236}">
                <a16:creationId xmlns:a16="http://schemas.microsoft.com/office/drawing/2014/main" id="{56D34B85-8E9D-74AF-B4A7-19ABC3058FE3}"/>
              </a:ext>
            </a:extLst>
          </p:cNvPr>
          <p:cNvSpPr/>
          <p:nvPr/>
        </p:nvSpPr>
        <p:spPr>
          <a:xfrm>
            <a:off x="1034189" y="252202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叁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04FC206A-3828-DEEE-8E6E-5E85F61F60C2}"/>
              </a:ext>
            </a:extLst>
          </p:cNvPr>
          <p:cNvSpPr txBox="1"/>
          <p:nvPr/>
        </p:nvSpPr>
        <p:spPr>
          <a:xfrm>
            <a:off x="1034189" y="3070668"/>
            <a:ext cx="1651861" cy="1652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4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形象</a:t>
            </a:r>
            <a:r>
              <a:rPr lang="zh-CN" altLang="en-US" sz="14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生成</a:t>
            </a:r>
            <a:endParaRPr sz="14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上传正面半身照，支持</a:t>
            </a:r>
            <a:r>
              <a:rPr lang="en-US" altLang="zh-CN" sz="110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JPG</a:t>
            </a:r>
            <a:r>
              <a:rPr lang="zh-CN" altLang="en-US" sz="110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10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PNG</a:t>
            </a: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选择性别</a:t>
            </a:r>
            <a:endParaRPr lang="en-US" altLang="zh-CN" sz="1100" b="1" dirty="0">
              <a:solidFill>
                <a:srgbClr val="9C2F26"/>
              </a:solidFill>
              <a:latin typeface="Microsoft YaHei"/>
              <a:ea typeface="Microsoft YaHei"/>
              <a:cs typeface="Microsoft YaHei"/>
            </a:endParaRP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生成保留五官神态的古风数字人形象</a:t>
            </a:r>
            <a:endParaRPr sz="11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061F6CA-2E55-8AD3-4FD4-54FEC7776A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81" b="24668"/>
          <a:stretch>
            <a:fillRect/>
          </a:stretch>
        </p:blipFill>
        <p:spPr>
          <a:xfrm>
            <a:off x="2993645" y="1296733"/>
            <a:ext cx="7929462" cy="4974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2057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A6648-60A9-8243-C423-6C1B8939A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3D9A26-1D7C-14B9-A9C4-6B09A0EB257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82EC51C1-643B-3C4C-2052-1CD58FA1530E}"/>
              </a:ext>
            </a:extLst>
          </p:cNvPr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574E614-3F8D-8928-2AD7-E0DCCFF8028D}"/>
              </a:ext>
            </a:extLst>
          </p:cNvPr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47F7A1-2E6E-EE78-157D-0FB5CBC34E33}"/>
              </a:ext>
            </a:extLst>
          </p:cNvPr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A2B48F2-BDFA-73FD-A334-AD2449245369}"/>
              </a:ext>
            </a:extLst>
          </p:cNvPr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96FF126-A00B-3814-45C0-A1B340982D3B}"/>
              </a:ext>
            </a:extLst>
          </p:cNvPr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8E664A-4A31-875A-2D64-5B0818B498CD}"/>
              </a:ext>
            </a:extLst>
          </p:cNvPr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孔子之境 </a:t>
            </a:r>
            <a:r>
              <a:rPr kumimoji="0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· </a:t>
            </a: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智启论语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A89E8C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25B895-F723-0BFF-E800-2E48F400EE62}"/>
              </a:ext>
            </a:extLst>
          </p:cNvPr>
          <p:cNvSpPr txBox="1"/>
          <p:nvPr/>
        </p:nvSpPr>
        <p:spPr>
          <a:xfrm>
            <a:off x="1069848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风骨创作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1B1916"/>
              </a:solidFill>
              <a:effectLst/>
              <a:uLnTx/>
              <a:uFillTx/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EFB2A008-3FEA-86D7-A577-244B02383348}"/>
              </a:ext>
            </a:extLst>
          </p:cNvPr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箭头: 下 31">
            <a:extLst>
              <a:ext uri="{FF2B5EF4-FFF2-40B4-BE49-F238E27FC236}">
                <a16:creationId xmlns:a16="http://schemas.microsoft.com/office/drawing/2014/main" id="{BCCF6E32-756C-067A-A902-BCE9C3C0EA4D}"/>
              </a:ext>
            </a:extLst>
          </p:cNvPr>
          <p:cNvSpPr/>
          <p:nvPr/>
        </p:nvSpPr>
        <p:spPr>
          <a:xfrm>
            <a:off x="1541273" y="5129022"/>
            <a:ext cx="478028" cy="677164"/>
          </a:xfrm>
          <a:prstGeom prst="downArrow">
            <a:avLst>
              <a:gd name="adj1" fmla="val 39373"/>
              <a:gd name="adj2" fmla="val 73700"/>
            </a:avLst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ounded Rectangle 24">
            <a:extLst>
              <a:ext uri="{FF2B5EF4-FFF2-40B4-BE49-F238E27FC236}">
                <a16:creationId xmlns:a16="http://schemas.microsoft.com/office/drawing/2014/main" id="{C314B47A-0D37-0983-C0FF-1C9A292E387B}"/>
              </a:ext>
            </a:extLst>
          </p:cNvPr>
          <p:cNvSpPr/>
          <p:nvPr/>
        </p:nvSpPr>
        <p:spPr>
          <a:xfrm>
            <a:off x="753964" y="2357435"/>
            <a:ext cx="1942185" cy="2453897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25">
            <a:extLst>
              <a:ext uri="{FF2B5EF4-FFF2-40B4-BE49-F238E27FC236}">
                <a16:creationId xmlns:a16="http://schemas.microsoft.com/office/drawing/2014/main" id="{94706D52-BE1A-19B6-4994-50D93F761061}"/>
              </a:ext>
            </a:extLst>
          </p:cNvPr>
          <p:cNvSpPr/>
          <p:nvPr/>
        </p:nvSpPr>
        <p:spPr>
          <a:xfrm>
            <a:off x="955132" y="252202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肆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0F8E2A41-0095-F0DA-CCF4-D7AAB2CDD079}"/>
              </a:ext>
            </a:extLst>
          </p:cNvPr>
          <p:cNvSpPr txBox="1"/>
          <p:nvPr/>
        </p:nvSpPr>
        <p:spPr>
          <a:xfrm>
            <a:off x="864425" y="3070668"/>
            <a:ext cx="1800767" cy="1398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sz="14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专属音色</a:t>
            </a:r>
            <a:endParaRPr sz="14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提供 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12 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100" b="0" dirty="0" err="1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CosyVoice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10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预置音色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供试听选择</a:t>
            </a:r>
            <a:endParaRPr lang="en-US" altLang="zh-CN" sz="11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支持上传 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10-20 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秒清晰人声，进行</a:t>
            </a:r>
            <a:r>
              <a:rPr lang="zh-CN" altLang="en-US" sz="110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音色克隆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1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76C3D562-E2CE-2E78-7C8D-6600B71C3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184" y="1363269"/>
            <a:ext cx="8721726" cy="47532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1998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EB5D9-6ACE-7743-1FE3-B3D28BD3F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F38590-773C-FC9C-474F-3D7421DAF25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55818344-6049-8398-5A50-D29BC7FB6029}"/>
              </a:ext>
            </a:extLst>
          </p:cNvPr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C07A447-E7F3-D6D0-2336-407EDCF10349}"/>
              </a:ext>
            </a:extLst>
          </p:cNvPr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24004D-D117-7D4B-4544-B5C9A2F6FBA6}"/>
              </a:ext>
            </a:extLst>
          </p:cNvPr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12EDFF1-E366-E475-E08B-0F0F29EC4EDB}"/>
              </a:ext>
            </a:extLst>
          </p:cNvPr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01AEE3-EC5B-EDFC-E0B5-36316F8C9B65}"/>
              </a:ext>
            </a:extLst>
          </p:cNvPr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E2202-229B-BEB6-91BB-E0F652AB1225}"/>
              </a:ext>
            </a:extLst>
          </p:cNvPr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孔子之境 </a:t>
            </a:r>
            <a:r>
              <a:rPr kumimoji="0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· </a:t>
            </a:r>
            <a:r>
              <a:rPr kumimoji="0" lang="zh-CN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智启论语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A89E8C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15409-13A1-DE4F-F75D-90CE99A9BD72}"/>
              </a:ext>
            </a:extLst>
          </p:cNvPr>
          <p:cNvSpPr txBox="1"/>
          <p:nvPr/>
        </p:nvSpPr>
        <p:spPr>
          <a:xfrm>
            <a:off x="1069848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KaiTi"/>
                <a:ea typeface="KaiTi"/>
                <a:cs typeface="KaiTi"/>
              </a:rPr>
              <a:t>风骨创作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1B1916"/>
              </a:solidFill>
              <a:effectLst/>
              <a:uLnTx/>
              <a:uFillTx/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2CD29667-1490-7651-2C51-37B63011F384}"/>
              </a:ext>
            </a:extLst>
          </p:cNvPr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28">
            <a:extLst>
              <a:ext uri="{FF2B5EF4-FFF2-40B4-BE49-F238E27FC236}">
                <a16:creationId xmlns:a16="http://schemas.microsoft.com/office/drawing/2014/main" id="{AD0A912A-ED00-FB5B-D336-18436E10CF50}"/>
              </a:ext>
            </a:extLst>
          </p:cNvPr>
          <p:cNvSpPr/>
          <p:nvPr/>
        </p:nvSpPr>
        <p:spPr>
          <a:xfrm>
            <a:off x="751423" y="2357435"/>
            <a:ext cx="1942185" cy="2453897"/>
          </a:xfrm>
          <a:prstGeom prst="roundRect">
            <a:avLst>
              <a:gd name="adj" fmla="val 5000"/>
            </a:avLst>
          </a:prstGeom>
          <a:solidFill>
            <a:srgbClr val="FBF7EE"/>
          </a:solidFill>
          <a:ln w="9525">
            <a:solidFill>
              <a:srgbClr val="E2D7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29">
            <a:extLst>
              <a:ext uri="{FF2B5EF4-FFF2-40B4-BE49-F238E27FC236}">
                <a16:creationId xmlns:a16="http://schemas.microsoft.com/office/drawing/2014/main" id="{6291B11A-9F9C-8FBB-EBB7-25E480D14057}"/>
              </a:ext>
            </a:extLst>
          </p:cNvPr>
          <p:cNvSpPr/>
          <p:nvPr/>
        </p:nvSpPr>
        <p:spPr>
          <a:xfrm>
            <a:off x="952591" y="252202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伍</a:t>
            </a:r>
          </a:p>
        </p:txBody>
      </p:sp>
      <p:sp>
        <p:nvSpPr>
          <p:cNvPr id="20" name="TextBox 30">
            <a:extLst>
              <a:ext uri="{FF2B5EF4-FFF2-40B4-BE49-F238E27FC236}">
                <a16:creationId xmlns:a16="http://schemas.microsoft.com/office/drawing/2014/main" id="{576F9C99-98FE-2AE8-CF39-114177984821}"/>
              </a:ext>
            </a:extLst>
          </p:cNvPr>
          <p:cNvSpPr txBox="1"/>
          <p:nvPr/>
        </p:nvSpPr>
        <p:spPr>
          <a:xfrm>
            <a:off x="850905" y="3070668"/>
            <a:ext cx="1641536" cy="1398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</a:pPr>
            <a:r>
              <a:rPr lang="zh-CN" altLang="en-US" sz="1400" b="1" dirty="0">
                <a:solidFill>
                  <a:srgbClr val="1B1916"/>
                </a:solidFill>
                <a:latin typeface="KaiTi"/>
                <a:ea typeface="KaiTi"/>
                <a:cs typeface="KaiTi"/>
              </a:rPr>
              <a:t>数字人视频</a:t>
            </a:r>
            <a:endParaRPr sz="14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支持</a:t>
            </a:r>
            <a:r>
              <a:rPr lang="zh-CN" altLang="en-US" sz="110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自定义文案或一键生成 </a:t>
            </a:r>
            <a:r>
              <a:rPr lang="en-US" altLang="zh-CN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150-180 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字旁白；</a:t>
            </a:r>
            <a:endParaRPr lang="en-US" altLang="zh-CN" sz="11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9C2F26"/>
                </a:solidFill>
                <a:latin typeface="Microsoft YaHei"/>
                <a:ea typeface="Microsoft YaHei"/>
                <a:cs typeface="Microsoft YaHei"/>
              </a:rPr>
              <a:t>合成数字人</a:t>
            </a:r>
            <a:r>
              <a:rPr lang="zh-CN" altLang="en-US" sz="1100" b="0" dirty="0">
                <a:solidFill>
                  <a:srgbClr val="453D34"/>
                </a:solidFill>
                <a:latin typeface="Microsoft YaHei"/>
                <a:ea typeface="Microsoft YaHei"/>
                <a:cs typeface="Microsoft YaHei"/>
              </a:rPr>
              <a:t>，产出可预览、下载的短视频。</a:t>
            </a:r>
            <a:endParaRPr sz="1100" b="0" dirty="0">
              <a:solidFill>
                <a:srgbClr val="453D34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EF91770-4C99-23F2-DFE8-12F1A9B3F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3" b="22685"/>
          <a:stretch>
            <a:fillRect/>
          </a:stretch>
        </p:blipFill>
        <p:spPr>
          <a:xfrm>
            <a:off x="3057144" y="1336067"/>
            <a:ext cx="7659019" cy="51999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0893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FFF8EE"/>
                </a:solidFill>
                <a:latin typeface="KaiTi"/>
                <a:ea typeface="KaiTi"/>
                <a:cs typeface="KaiTi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FFF8EE"/>
                </a:solidFill>
                <a:latin typeface="KaiTi"/>
                <a:ea typeface="KaiTi"/>
                <a:cs typeface="KaiTi"/>
              </a:rPr>
              <a:t>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450" b="1">
                <a:solidFill>
                  <a:srgbClr val="453D34"/>
                </a:solidFill>
                <a:latin typeface="KaiTi"/>
                <a:ea typeface="KaiTi"/>
                <a:cs typeface="KaiTi"/>
              </a:rPr>
              <a:t>功能全景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孔子之境 </a:t>
            </a:r>
            <a:r>
              <a:rPr lang="en-US" altLang="zh-CN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850" b="0" dirty="0">
                <a:solidFill>
                  <a:srgbClr val="A89E8C"/>
                </a:solidFill>
                <a:latin typeface="Microsoft YaHei"/>
                <a:ea typeface="Microsoft YaHei"/>
                <a:cs typeface="Microsoft YaHei"/>
              </a:rPr>
              <a:t>智启论语</a:t>
            </a:r>
            <a:endParaRPr sz="850" b="0" dirty="0">
              <a:solidFill>
                <a:srgbClr val="A89E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5" y="475488"/>
            <a:ext cx="8778240" cy="446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dirty="0" err="1">
                <a:solidFill>
                  <a:srgbClr val="1B1916"/>
                </a:solidFill>
                <a:latin typeface="KaiTi"/>
                <a:ea typeface="KaiTi"/>
                <a:cs typeface="KaiTi"/>
              </a:rPr>
              <a:t>创作成果</a:t>
            </a:r>
            <a:endParaRPr sz="2600" b="1" dirty="0">
              <a:solidFill>
                <a:srgbClr val="1B1916"/>
              </a:solidFill>
              <a:latin typeface="KaiTi"/>
              <a:ea typeface="KaiTi"/>
              <a:cs typeface="KaiT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470255C7-4DBB-9909-4C97-F66C3CC08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1857" y="1539792"/>
            <a:ext cx="2959300" cy="4436784"/>
          </a:xfrm>
          <a:prstGeom prst="rect">
            <a:avLst/>
          </a:prstGeom>
        </p:spPr>
      </p:pic>
      <p:sp>
        <p:nvSpPr>
          <p:cNvPr id="24" name="箭头: 下 23">
            <a:extLst>
              <a:ext uri="{FF2B5EF4-FFF2-40B4-BE49-F238E27FC236}">
                <a16:creationId xmlns:a16="http://schemas.microsoft.com/office/drawing/2014/main" id="{77161304-449D-E7D9-32EA-EEE9073AA47E}"/>
              </a:ext>
            </a:extLst>
          </p:cNvPr>
          <p:cNvSpPr/>
          <p:nvPr/>
        </p:nvSpPr>
        <p:spPr>
          <a:xfrm rot="16200000">
            <a:off x="6155184" y="3497071"/>
            <a:ext cx="478028" cy="677164"/>
          </a:xfrm>
          <a:prstGeom prst="downArrow">
            <a:avLst>
              <a:gd name="adj1" fmla="val 52657"/>
              <a:gd name="adj2" fmla="val 69715"/>
            </a:avLst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5" name="42c6ffb3-a1fb-45ef-8bf8-da038e0fad70">
            <a:hlinkClick r:id="" action="ppaction://media"/>
            <a:extLst>
              <a:ext uri="{FF2B5EF4-FFF2-40B4-BE49-F238E27FC236}">
                <a16:creationId xmlns:a16="http://schemas.microsoft.com/office/drawing/2014/main" id="{459F7428-E5A0-A30D-952E-563891993A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961214" y="1532149"/>
            <a:ext cx="2962951" cy="44444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44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56122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932688"/>
            <a:ext cx="1554480" cy="237744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0" b="0" i="0" u="none" strike="noStrike" kern="1200" cap="none" spc="0" normalizeH="0" baseline="0" noProof="0">
                <a:ln>
                  <a:noFill/>
                </a:ln>
                <a:solidFill>
                  <a:srgbClr val="DED2B8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33856" y="1810512"/>
            <a:ext cx="0" cy="3127248"/>
          </a:xfrm>
          <a:prstGeom prst="line">
            <a:avLst/>
          </a:prstGeom>
          <a:ln w="3175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08176" y="1810512"/>
            <a:ext cx="1280160" cy="1280160"/>
          </a:xfrm>
          <a:prstGeom prst="roundRect">
            <a:avLst>
              <a:gd name="adj" fmla="val 6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82880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08D5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THREE · 第三章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103120"/>
            <a:ext cx="7680960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技术实现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4752" y="3529584"/>
            <a:ext cx="996696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44752" y="3675887"/>
            <a:ext cx="8595360" cy="357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5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本地知识库与混合检索负责可靠查证，云端模型完成问答、对话与多媒体生成。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4752" y="4626864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总体架构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626864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技术选型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4626864"/>
            <a:ext cx="146304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知识库构建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4631309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生成链路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8095" y="4626610"/>
            <a:ext cx="185674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9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可靠性与内容边界</a:t>
            </a:r>
            <a:endParaRPr kumimoji="0" sz="1250" b="1" i="0" u="none" strike="noStrike" kern="1200" cap="none" spc="0" normalizeH="0" baseline="0" noProof="0">
              <a:ln>
                <a:noFill/>
              </a:ln>
              <a:solidFill>
                <a:srgbClr val="2F4A40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9" name="Rounded Rectangle 16"/>
          <p:cNvSpPr/>
          <p:nvPr/>
        </p:nvSpPr>
        <p:spPr>
          <a:xfrm>
            <a:off x="5997956" y="4634484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混合检索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aper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DE"/>
          </a:solidFill>
          <a:ln w="0">
            <a:noFill/>
            <a:prstDash val="solid"/>
          </a:ln>
        </p:spPr>
      </p:sp>
      <p:sp>
        <p:nvSpPr>
          <p:cNvPr id="12" name="user-panel"/>
          <p:cNvSpPr>
            <a:spLocks noGrp="1"/>
          </p:cNvSpPr>
          <p:nvPr/>
        </p:nvSpPr>
        <p:spPr>
          <a:xfrm>
            <a:off x="285750" y="1443990"/>
            <a:ext cx="2571750" cy="3762375"/>
          </a:xfrm>
          <a:prstGeom prst="roundRect">
            <a:avLst>
              <a:gd name="adj" fmla="val 4074"/>
            </a:avLst>
          </a:prstGeom>
          <a:solidFill>
            <a:srgbClr val="F8F4EB"/>
          </a:solidFill>
          <a:ln w="9525">
            <a:solidFill>
              <a:srgbClr val="B9AF9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椭圆 12"/>
          <p:cNvSpPr>
            <a:spLocks noGrp="1"/>
          </p:cNvSpPr>
          <p:nvPr/>
        </p:nvSpPr>
        <p:spPr>
          <a:xfrm>
            <a:off x="400050" y="1539240"/>
            <a:ext cx="400050" cy="400050"/>
          </a:xfrm>
          <a:prstGeom prst="ellipse">
            <a:avLst/>
          </a:prstGeom>
          <a:solidFill>
            <a:srgbClr val="29483E"/>
          </a:solidFill>
          <a:ln w="9525">
            <a:solidFill>
              <a:srgbClr val="D8D0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CF5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04875" y="155829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用户端</a:t>
            </a: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914400" y="1901190"/>
            <a:ext cx="1790700" cy="0"/>
          </a:xfrm>
          <a:prstGeom prst="line">
            <a:avLst/>
          </a:prstGeom>
          <a:noFill/>
          <a:ln w="9525">
            <a:solidFill>
              <a:srgbClr val="416F60"/>
            </a:solidFill>
            <a:prstDash val="solid"/>
          </a:ln>
        </p:spPr>
      </p:sp>
      <p:sp>
        <p:nvSpPr>
          <p:cNvPr id="16" name="business-panel"/>
          <p:cNvSpPr>
            <a:spLocks noGrp="1"/>
          </p:cNvSpPr>
          <p:nvPr/>
        </p:nvSpPr>
        <p:spPr>
          <a:xfrm>
            <a:off x="3495675" y="1443990"/>
            <a:ext cx="2428875" cy="3762375"/>
          </a:xfrm>
          <a:prstGeom prst="roundRect">
            <a:avLst>
              <a:gd name="adj" fmla="val 4314"/>
            </a:avLst>
          </a:prstGeom>
          <a:solidFill>
            <a:srgbClr val="F8F4EB"/>
          </a:solidFill>
          <a:ln w="9525">
            <a:solidFill>
              <a:srgbClr val="B9AF9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椭圆 16"/>
          <p:cNvSpPr>
            <a:spLocks noGrp="1"/>
          </p:cNvSpPr>
          <p:nvPr/>
        </p:nvSpPr>
        <p:spPr>
          <a:xfrm>
            <a:off x="3609975" y="1539240"/>
            <a:ext cx="400050" cy="400050"/>
          </a:xfrm>
          <a:prstGeom prst="ellipse">
            <a:avLst/>
          </a:prstGeom>
          <a:solidFill>
            <a:srgbClr val="29483E"/>
          </a:solidFill>
          <a:ln w="9525">
            <a:solidFill>
              <a:srgbClr val="D8D0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CF5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⚙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114800" y="1558290"/>
            <a:ext cx="1666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业务层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106035" y="1567815"/>
            <a:ext cx="85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</a:t>
            </a: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4124325" y="1901190"/>
            <a:ext cx="1647825" cy="0"/>
          </a:xfrm>
          <a:prstGeom prst="line">
            <a:avLst/>
          </a:prstGeom>
          <a:noFill/>
          <a:ln w="9525">
            <a:solidFill>
              <a:srgbClr val="416F60"/>
            </a:solidFill>
            <a:prstDash val="solid"/>
          </a:ln>
        </p:spPr>
      </p:sp>
      <p:sp>
        <p:nvSpPr>
          <p:cNvPr id="21" name="local-panel"/>
          <p:cNvSpPr>
            <a:spLocks noGrp="1"/>
          </p:cNvSpPr>
          <p:nvPr/>
        </p:nvSpPr>
        <p:spPr>
          <a:xfrm>
            <a:off x="6524625" y="2186940"/>
            <a:ext cx="2857500" cy="3019425"/>
          </a:xfrm>
          <a:prstGeom prst="roundRect">
            <a:avLst>
              <a:gd name="adj" fmla="val 3667"/>
            </a:avLst>
          </a:prstGeom>
          <a:solidFill>
            <a:srgbClr val="F8F4EB"/>
          </a:solidFill>
          <a:ln w="9525">
            <a:solidFill>
              <a:srgbClr val="B9AF9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椭圆 21"/>
          <p:cNvSpPr>
            <a:spLocks noGrp="1"/>
          </p:cNvSpPr>
          <p:nvPr/>
        </p:nvSpPr>
        <p:spPr>
          <a:xfrm>
            <a:off x="6638925" y="2282190"/>
            <a:ext cx="400050" cy="400050"/>
          </a:xfrm>
          <a:prstGeom prst="ellipse">
            <a:avLst/>
          </a:prstGeom>
          <a:solidFill>
            <a:srgbClr val="29483E"/>
          </a:solidFill>
          <a:ln w="9525">
            <a:solidFill>
              <a:srgbClr val="D8D0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CF5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库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43750" y="230124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本地知识与数据层</a:t>
            </a: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153275" y="2644140"/>
            <a:ext cx="2076450" cy="0"/>
          </a:xfrm>
          <a:prstGeom prst="line">
            <a:avLst/>
          </a:prstGeom>
          <a:noFill/>
          <a:ln w="9525">
            <a:solidFill>
              <a:srgbClr val="416F60"/>
            </a:solidFill>
            <a:prstDash val="solid"/>
          </a:ln>
        </p:spPr>
      </p:sp>
      <p:sp>
        <p:nvSpPr>
          <p:cNvPr id="25" name="cloud-panel"/>
          <p:cNvSpPr>
            <a:spLocks noGrp="1"/>
          </p:cNvSpPr>
          <p:nvPr/>
        </p:nvSpPr>
        <p:spPr>
          <a:xfrm>
            <a:off x="9477375" y="1443990"/>
            <a:ext cx="2428875" cy="3762375"/>
          </a:xfrm>
          <a:prstGeom prst="roundRect">
            <a:avLst>
              <a:gd name="adj" fmla="val 4314"/>
            </a:avLst>
          </a:prstGeom>
          <a:solidFill>
            <a:srgbClr val="F8F4EB"/>
          </a:solidFill>
          <a:ln w="9525">
            <a:solidFill>
              <a:srgbClr val="B9AF9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椭圆 25"/>
          <p:cNvSpPr>
            <a:spLocks noGrp="1"/>
          </p:cNvSpPr>
          <p:nvPr/>
        </p:nvSpPr>
        <p:spPr>
          <a:xfrm>
            <a:off x="9591675" y="1539240"/>
            <a:ext cx="400050" cy="400050"/>
          </a:xfrm>
          <a:prstGeom prst="ellipse">
            <a:avLst/>
          </a:prstGeom>
          <a:solidFill>
            <a:srgbClr val="29483E"/>
          </a:solidFill>
          <a:ln w="9525">
            <a:solidFill>
              <a:srgbClr val="D8D0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500" b="1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CF5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云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096500" y="1558290"/>
            <a:ext cx="1666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云端模型服务</a:t>
            </a: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0106025" y="1901190"/>
            <a:ext cx="1647825" cy="0"/>
          </a:xfrm>
          <a:prstGeom prst="line">
            <a:avLst/>
          </a:prstGeom>
          <a:noFill/>
          <a:ln w="9525">
            <a:solidFill>
              <a:srgbClr val="416F60"/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400050" y="2110740"/>
            <a:ext cx="2343150" cy="495300"/>
          </a:xfrm>
          <a:prstGeom prst="roundRect">
            <a:avLst>
              <a:gd name="adj" fmla="val 15385"/>
            </a:avLst>
          </a:prstGeom>
          <a:solidFill>
            <a:srgbClr val="F7F2E8"/>
          </a:solidFill>
          <a:ln w="9525">
            <a:solidFill>
              <a:srgbClr val="D5CCBA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95300" y="2158365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屏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2148840"/>
            <a:ext cx="1790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国风单页站点（SPA）</a:t>
            </a: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399415" y="2701290"/>
            <a:ext cx="2344420" cy="523875"/>
          </a:xfrm>
          <a:prstGeom prst="roundRect">
            <a:avLst>
              <a:gd name="adj" fmla="val 14545"/>
            </a:avLst>
          </a:prstGeom>
          <a:solidFill>
            <a:srgbClr val="F7F2E8"/>
          </a:solidFill>
          <a:ln w="9525">
            <a:solidFill>
              <a:srgbClr val="D5CCB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95300" y="2739390"/>
            <a:ext cx="323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页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42975" y="2739390"/>
            <a:ext cx="1638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4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4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index.html / app.js / site.css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95300" y="4015740"/>
            <a:ext cx="2152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0">
                <a:solidFill>
                  <a:srgbClr val="6E756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6E756D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E756D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山水意境留白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52425" y="337312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29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29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◉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19785" y="3363595"/>
            <a:ext cx="1924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840" b="0">
                <a:solidFill>
                  <a:srgbClr val="303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" b="0">
                <a:solidFill>
                  <a:srgbClr val="303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032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浏览器访问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032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30322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" b="0">
                <a:solidFill>
                  <a:srgbClr val="303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0322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http://127.0.0.1:8787</a:t>
            </a: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3629025" y="2072640"/>
            <a:ext cx="2162175" cy="419100"/>
          </a:xfrm>
          <a:prstGeom prst="roundRect">
            <a:avLst>
              <a:gd name="adj" fmla="val 18182"/>
            </a:avLst>
          </a:prstGeom>
          <a:solidFill>
            <a:srgbClr val="F7F2E8"/>
          </a:solidFill>
          <a:ln w="9525">
            <a:solidFill>
              <a:srgbClr val="D5CCB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3724275" y="212026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典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095750" y="2110740"/>
            <a:ext cx="1609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6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books：书库与阅读</a:t>
            </a: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3629025" y="2567940"/>
            <a:ext cx="2162175" cy="419100"/>
          </a:xfrm>
          <a:prstGeom prst="roundRect">
            <a:avLst>
              <a:gd name="adj" fmla="val 18182"/>
            </a:avLst>
          </a:prstGeom>
          <a:solidFill>
            <a:srgbClr val="F7F2E8"/>
          </a:solidFill>
          <a:ln w="9525">
            <a:solidFill>
              <a:srgbClr val="D5CCB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724275" y="261556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问</a:t>
            </a:r>
            <a:endParaRPr kumimoji="0" sz="1350" b="1" i="0" u="none" strike="noStrike" kern="1200" cap="none" spc="0" normalizeH="0" baseline="0" noProof="0">
              <a:ln>
                <a:noFill/>
              </a:ln>
              <a:solidFill>
                <a:srgbClr val="29483E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095750" y="2606040"/>
            <a:ext cx="1609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6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ask：智能问答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3629025" y="3063240"/>
            <a:ext cx="2162175" cy="419100"/>
          </a:xfrm>
          <a:prstGeom prst="roundRect">
            <a:avLst>
              <a:gd name="adj" fmla="val 18182"/>
            </a:avLst>
          </a:prstGeom>
          <a:solidFill>
            <a:srgbClr val="F7F2E8"/>
          </a:solidFill>
          <a:ln w="9525">
            <a:solidFill>
              <a:srgbClr val="D5CCBA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3724275" y="311086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贤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095750" y="3101340"/>
            <a:ext cx="1609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6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sages：先贤对话</a:t>
            </a: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3629025" y="3558540"/>
            <a:ext cx="2162175" cy="419100"/>
          </a:xfrm>
          <a:prstGeom prst="roundRect">
            <a:avLst>
              <a:gd name="adj" fmla="val 18182"/>
            </a:avLst>
          </a:prstGeom>
          <a:solidFill>
            <a:srgbClr val="F7F2E8"/>
          </a:solidFill>
          <a:ln w="9525">
            <a:solidFill>
              <a:srgbClr val="D5CCBA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724275" y="360616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创</a:t>
            </a:r>
            <a:endParaRPr kumimoji="0" sz="1350" b="1" i="0" u="none" strike="noStrike" kern="1200" cap="none" spc="0" normalizeH="0" baseline="0" noProof="0">
              <a:ln>
                <a:noFill/>
              </a:ln>
              <a:solidFill>
                <a:srgbClr val="29483E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095750" y="3590290"/>
            <a:ext cx="1694815" cy="34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6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presence：风骨创作</a:t>
            </a: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3629025" y="4053840"/>
            <a:ext cx="2162175" cy="419100"/>
          </a:xfrm>
          <a:prstGeom prst="roundRect">
            <a:avLst>
              <a:gd name="adj" fmla="val 18182"/>
            </a:avLst>
          </a:prstGeom>
          <a:solidFill>
            <a:srgbClr val="F7F2E8"/>
          </a:solidFill>
          <a:ln w="9525">
            <a:solidFill>
              <a:srgbClr val="D5CCBA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3724275" y="410146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户</a:t>
            </a: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095750" y="4091940"/>
            <a:ext cx="186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6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auth：个人中心</a:t>
            </a: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3629025" y="4577715"/>
            <a:ext cx="1171575" cy="466725"/>
          </a:xfrm>
          <a:prstGeom prst="roundRect">
            <a:avLst>
              <a:gd name="adj" fmla="val 14286"/>
            </a:avLst>
          </a:prstGeom>
          <a:solidFill>
            <a:srgbClr val="E4E8DE"/>
          </a:solidFill>
          <a:ln w="9525">
            <a:solidFill>
              <a:srgbClr val="CED3C8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3695700" y="4677410"/>
            <a:ext cx="1038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735" b="0">
                <a:solidFill>
                  <a:srgbClr val="4D5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4D5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路由切换在前端完成</a:t>
            </a: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4876800" y="4577715"/>
            <a:ext cx="914400" cy="466725"/>
          </a:xfrm>
          <a:prstGeom prst="roundRect">
            <a:avLst>
              <a:gd name="adj" fmla="val 14286"/>
            </a:avLst>
          </a:prstGeom>
          <a:solidFill>
            <a:srgbClr val="EFE6D7"/>
          </a:solidFill>
          <a:ln w="9525">
            <a:solidFill>
              <a:srgbClr val="D7CDBC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4924425" y="467741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735" b="0">
                <a:solidFill>
                  <a:srgbClr val="4D5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4D5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D514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视频任务后台轮询</a:t>
            </a: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6657975" y="2864485"/>
            <a:ext cx="2590800" cy="590550"/>
          </a:xfrm>
          <a:prstGeom prst="roundRect">
            <a:avLst>
              <a:gd name="adj" fmla="val 12903"/>
            </a:avLst>
          </a:prstGeom>
          <a:solidFill>
            <a:srgbClr val="F7F2E8"/>
          </a:solidFill>
          <a:ln w="9525">
            <a:solidFill>
              <a:srgbClr val="D5CCBA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753225" y="2891790"/>
            <a:ext cx="323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典</a:t>
            </a:r>
            <a:endParaRPr kumimoji="0" sz="1350" b="1" i="0" u="none" strike="noStrike" kern="1200" cap="none" spc="0" normalizeH="0" baseline="0" noProof="0">
              <a:ln>
                <a:noFill/>
              </a:ln>
              <a:solidFill>
                <a:srgbClr val="29483E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7124700" y="2882265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典籍 Markdown</a:t>
            </a: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124700" y="3073400"/>
            <a:ext cx="2131060" cy="3130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90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0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B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《论语》原文｜注疏｜礼记｜史传</a:t>
            </a: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6657975" y="3531235"/>
            <a:ext cx="2590800" cy="590550"/>
          </a:xfrm>
          <a:prstGeom prst="roundRect">
            <a:avLst>
              <a:gd name="adj" fmla="val 12903"/>
            </a:avLst>
          </a:prstGeom>
          <a:solidFill>
            <a:srgbClr val="F7F2E8"/>
          </a:solidFill>
          <a:ln w="9525">
            <a:solidFill>
              <a:srgbClr val="D5CCBA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6753225" y="3558540"/>
            <a:ext cx="323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376AA3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376AA3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DB</a:t>
            </a: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376AA3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124700" y="3549015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865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 16 + pgvector</a:t>
            </a: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124700" y="3749040"/>
            <a:ext cx="2038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3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B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篇、章、层级、全文索引、1024 维向量同库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6657975" y="4197985"/>
            <a:ext cx="2590800" cy="636270"/>
          </a:xfrm>
          <a:prstGeom prst="roundRect">
            <a:avLst>
              <a:gd name="adj" fmla="val 12903"/>
            </a:avLst>
          </a:prstGeom>
          <a:solidFill>
            <a:srgbClr val="F7F2E8"/>
          </a:solidFill>
          <a:ln w="9525">
            <a:solidFill>
              <a:srgbClr val="D5CCBA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6753225" y="4225290"/>
            <a:ext cx="323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AI</a:t>
            </a: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191B19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7124700" y="4215765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30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Ollama + bge-m3 </a:t>
            </a: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124700" y="4415790"/>
            <a:ext cx="2038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3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B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本机嵌入模型，负责向量化与近邻检索</a:t>
            </a: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6715125" y="484441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0">
                <a:solidFill>
                  <a:srgbClr val="29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>
                <a:solidFill>
                  <a:srgbClr val="29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75" b="0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▰</a:t>
            </a: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019925" y="483489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790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0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F5B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rag/output：图片、音频、视频缓存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9610725" y="2167890"/>
            <a:ext cx="2162175" cy="1143000"/>
          </a:xfrm>
          <a:prstGeom prst="roundRect">
            <a:avLst>
              <a:gd name="adj" fmla="val 6667"/>
            </a:avLst>
          </a:prstGeom>
          <a:solidFill>
            <a:srgbClr val="F7F3EA"/>
          </a:solidFill>
          <a:ln w="9525">
            <a:solidFill>
              <a:srgbClr val="D5CCBA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9705975" y="2215515"/>
            <a:ext cx="3238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00" b="1">
                <a:solidFill>
                  <a:srgbClr val="3E70D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3E70D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DS</a:t>
            </a:r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3E70D8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10077450" y="2297430"/>
            <a:ext cx="1609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Chat</a:t>
            </a: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0106660" y="2606040"/>
            <a:ext cx="147574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0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B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意图判断｜问答生成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B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先贤发言｜人设与诵读稿</a:t>
            </a: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9610725" y="3425190"/>
            <a:ext cx="2162175" cy="1162050"/>
          </a:xfrm>
          <a:prstGeom prst="roundRect">
            <a:avLst>
              <a:gd name="adj" fmla="val 6557"/>
            </a:avLst>
          </a:prstGeom>
          <a:solidFill>
            <a:srgbClr val="F7F3EA"/>
          </a:solidFill>
          <a:ln w="9525">
            <a:solidFill>
              <a:srgbClr val="D5CCBA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9705975" y="3472815"/>
            <a:ext cx="3238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00" b="1">
                <a:solidFill>
                  <a:srgbClr val="7657E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7657E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AI</a:t>
            </a:r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7657E8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10077450" y="3564890"/>
            <a:ext cx="1609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191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阿里云百炼</a:t>
            </a: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10077450" y="386651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9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B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CosyVoice 语音｜图像编辑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B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LivePortrait / 悦动人像</a:t>
            </a:r>
          </a:p>
        </p:txBody>
      </p:sp>
      <p:sp>
        <p:nvSpPr>
          <p:cNvPr id="82" name="直接连接符 81"/>
          <p:cNvSpPr>
            <a:spLocks noGrp="1"/>
          </p:cNvSpPr>
          <p:nvPr/>
        </p:nvSpPr>
        <p:spPr>
          <a:xfrm>
            <a:off x="9667875" y="4701540"/>
            <a:ext cx="2047875" cy="0"/>
          </a:xfrm>
          <a:prstGeom prst="line">
            <a:avLst/>
          </a:prstGeom>
          <a:noFill/>
          <a:ln w="9525">
            <a:solidFill>
              <a:srgbClr val="D5CCBA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9686925" y="477774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>
            <a:defPPr algn="ctr">
              <a:defRPr sz="120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29483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9483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云</a:t>
            </a:r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29483E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10029825" y="4749165"/>
            <a:ext cx="17430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l">
              <a:defRPr sz="77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35" b="0">
                <a:solidFill>
                  <a:srgbClr val="5F5B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F5B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重计算与多模态生成放到云端，减轻本机部署压力</a:t>
            </a:r>
          </a:p>
        </p:txBody>
      </p:sp>
      <p:sp>
        <p:nvSpPr>
          <p:cNvPr id="85" name="右箭头 84"/>
          <p:cNvSpPr>
            <a:spLocks noGrp="1"/>
          </p:cNvSpPr>
          <p:nvPr/>
        </p:nvSpPr>
        <p:spPr>
          <a:xfrm>
            <a:off x="2926080" y="3446780"/>
            <a:ext cx="514350" cy="190500"/>
          </a:xfrm>
          <a:prstGeom prst="rightArrow">
            <a:avLst/>
          </a:prstGeom>
          <a:solidFill>
            <a:srgbClr val="416F60"/>
          </a:solidFill>
          <a:ln w="4763">
            <a:solidFill>
              <a:srgbClr val="416F60"/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2867025" y="305562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790" b="0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0" b="0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HTTP 请求</a:t>
            </a:r>
          </a:p>
        </p:txBody>
      </p:sp>
      <p:sp>
        <p:nvSpPr>
          <p:cNvPr id="87" name="右箭头 86"/>
          <p:cNvSpPr>
            <a:spLocks noGrp="1"/>
          </p:cNvSpPr>
          <p:nvPr/>
        </p:nvSpPr>
        <p:spPr>
          <a:xfrm>
            <a:off x="5953125" y="1837055"/>
            <a:ext cx="3457575" cy="171450"/>
          </a:xfrm>
          <a:prstGeom prst="rightArrow">
            <a:avLst/>
          </a:prstGeom>
          <a:solidFill>
            <a:srgbClr val="29483E"/>
          </a:solidFill>
          <a:ln w="4763">
            <a:solidFill>
              <a:srgbClr val="29483E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7407275" y="1577975"/>
            <a:ext cx="818515" cy="247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825" b="0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0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API调用</a:t>
            </a:r>
          </a:p>
        </p:txBody>
      </p:sp>
      <p:sp>
        <p:nvSpPr>
          <p:cNvPr id="89" name="右箭头 88"/>
          <p:cNvSpPr>
            <a:spLocks noGrp="1"/>
          </p:cNvSpPr>
          <p:nvPr/>
        </p:nvSpPr>
        <p:spPr>
          <a:xfrm>
            <a:off x="5963920" y="3495040"/>
            <a:ext cx="552450" cy="228600"/>
          </a:xfrm>
          <a:prstGeom prst="rightArrow">
            <a:avLst/>
          </a:prstGeom>
          <a:solidFill>
            <a:srgbClr val="29483E"/>
          </a:solidFill>
          <a:ln w="4763">
            <a:solidFill>
              <a:srgbClr val="29483E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5962650" y="308229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705" b="0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5" b="0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5" b="0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检索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5" b="0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191B19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5" b="0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5" b="0">
                <a:solidFill>
                  <a:srgbClr val="191B1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91B19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读写</a:t>
            </a:r>
          </a:p>
        </p:txBody>
      </p:sp>
      <p:sp>
        <p:nvSpPr>
          <p:cNvPr id="91" name="design-principle"/>
          <p:cNvSpPr>
            <a:spLocks noGrp="1"/>
          </p:cNvSpPr>
          <p:nvPr/>
        </p:nvSpPr>
        <p:spPr>
          <a:xfrm>
            <a:off x="276225" y="5497195"/>
            <a:ext cx="11630025" cy="694055"/>
          </a:xfrm>
          <a:prstGeom prst="roundRect">
            <a:avLst>
              <a:gd name="adj" fmla="val 3175"/>
            </a:avLst>
          </a:prstGeom>
          <a:solidFill>
            <a:srgbClr val="29483E"/>
          </a:solidFill>
          <a:ln w="9525">
            <a:solidFill>
              <a:srgbClr val="203D3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2" name="矩形 91"/>
          <p:cNvSpPr>
            <a:spLocks noGrp="1"/>
          </p:cNvSpPr>
          <p:nvPr/>
        </p:nvSpPr>
        <p:spPr>
          <a:xfrm>
            <a:off x="542925" y="5663565"/>
            <a:ext cx="1285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00" b="1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CF5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设计原则</a:t>
            </a:r>
          </a:p>
        </p:txBody>
      </p:sp>
      <p:sp>
        <p:nvSpPr>
          <p:cNvPr id="93" name="直接连接符 92"/>
          <p:cNvSpPr>
            <a:spLocks noGrp="1"/>
          </p:cNvSpPr>
          <p:nvPr/>
        </p:nvSpPr>
        <p:spPr>
          <a:xfrm>
            <a:off x="1962150" y="5654040"/>
            <a:ext cx="0" cy="342900"/>
          </a:xfrm>
          <a:prstGeom prst="line">
            <a:avLst/>
          </a:prstGeom>
          <a:noFill/>
          <a:ln w="9525">
            <a:solidFill>
              <a:srgbClr val="D7CBAF"/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2209800" y="5615940"/>
            <a:ext cx="9372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15" b="0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5" b="0">
                <a:solidFill>
                  <a:srgbClr val="FFFCF5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CF5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书库直接读本地Markdown；问答与先贤先检索再生成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CF5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CF5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风骨创作走独立多模态链路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CF5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CF5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检索与元数据留在本地，生成与视频交给云端。</a:t>
            </a:r>
          </a:p>
        </p:txBody>
      </p:sp>
      <p:sp>
        <p:nvSpPr>
          <p:cNvPr id="95" name="直接连接符 94"/>
          <p:cNvSpPr>
            <a:spLocks noGrp="1"/>
          </p:cNvSpPr>
          <p:nvPr/>
        </p:nvSpPr>
        <p:spPr>
          <a:xfrm>
            <a:off x="276225" y="6435090"/>
            <a:ext cx="11639550" cy="0"/>
          </a:xfrm>
          <a:prstGeom prst="line">
            <a:avLst/>
          </a:prstGeom>
          <a:noFill/>
          <a:ln w="9525">
            <a:solidFill>
              <a:srgbClr val="CBBFA9"/>
            </a:solidFill>
            <a:prstDash val="solid"/>
          </a:ln>
        </p:spPr>
      </p:sp>
      <p:pic>
        <p:nvPicPr>
          <p:cNvPr id="99" name="图片 98" descr="总体架构：检索本地，生成云端"/>
          <p:cNvPicPr>
            <a:picLocks noChangeAspect="1"/>
          </p:cNvPicPr>
          <p:nvPr/>
        </p:nvPicPr>
        <p:blipFill>
          <a:blip r:embed="rId3"/>
          <a:srcRect l="1198"/>
          <a:stretch>
            <a:fillRect/>
          </a:stretch>
        </p:blipFill>
        <p:spPr>
          <a:xfrm>
            <a:off x="407670" y="3952240"/>
            <a:ext cx="2356485" cy="1130300"/>
          </a:xfrm>
          <a:prstGeom prst="roundRect">
            <a:avLst/>
          </a:prstGeom>
          <a:noFill/>
          <a:ln>
            <a:noFill/>
          </a:ln>
          <a:effectLst>
            <a:outerShdw blurRad="50800" dist="38100" dir="84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5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36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叁</a:t>
            </a:r>
          </a:p>
        </p:txBody>
      </p:sp>
      <p:cxnSp>
        <p:nvCxnSpPr>
          <p:cNvPr id="38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6"/>
          <p:cNvSpPr txBox="1"/>
          <p:nvPr/>
        </p:nvSpPr>
        <p:spPr>
          <a:xfrm>
            <a:off x="7571231" y="380619"/>
            <a:ext cx="3310128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技术实现</a:t>
            </a:r>
          </a:p>
        </p:txBody>
      </p:sp>
      <p:sp>
        <p:nvSpPr>
          <p:cNvPr id="101" name="TextBox 9"/>
          <p:cNvSpPr txBox="1"/>
          <p:nvPr/>
        </p:nvSpPr>
        <p:spPr>
          <a:xfrm>
            <a:off x="1005840" y="475488"/>
            <a:ext cx="8778240" cy="51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总体架构</a:t>
            </a:r>
          </a:p>
        </p:txBody>
      </p:sp>
      <p:cxnSp>
        <p:nvCxnSpPr>
          <p:cNvPr id="102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7">
            <a:extLst>
              <a:ext uri="{FF2B5EF4-FFF2-40B4-BE49-F238E27FC236}">
                <a16:creationId xmlns:a16="http://schemas.microsoft.com/office/drawing/2014/main" id="{DE63A922-DD4D-0B8E-BC1A-99284BB0748A}"/>
              </a:ext>
            </a:extLst>
          </p:cNvPr>
          <p:cNvSpPr txBox="1"/>
          <p:nvPr/>
        </p:nvSpPr>
        <p:spPr>
          <a:xfrm>
            <a:off x="352425" y="6512508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51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技术选型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68680" y="1408176"/>
            <a:ext cx="10515600" cy="438912"/>
          </a:xfrm>
          <a:prstGeom prst="rect">
            <a:avLst/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6695" y="1430782"/>
            <a:ext cx="1115568" cy="393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层级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8296" y="1430782"/>
            <a:ext cx="3767328" cy="393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430782"/>
            <a:ext cx="4864607" cy="393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原因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1847088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68680" y="1847088"/>
            <a:ext cx="10515600" cy="530352"/>
          </a:xfrm>
          <a:prstGeom prst="rect">
            <a:avLst/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96695" y="1974469"/>
            <a:ext cx="1115568" cy="275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8296" y="1994471"/>
            <a:ext cx="3767328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单页 HTML + ES Module + 一份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1994471"/>
            <a:ext cx="4864607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零构建，接收方打开浏览器即可看到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2377440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68680" y="2377440"/>
            <a:ext cx="10515600" cy="530352"/>
          </a:xfrm>
          <a:prstGeom prst="rect">
            <a:avLst/>
          </a:prstGeom>
          <a:solidFill>
            <a:srgbClr val="F9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6695" y="2504821"/>
            <a:ext cx="1115568" cy="275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8296" y="2524823"/>
            <a:ext cx="3767328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3.10+ / FastAPI / Uvicorn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524823"/>
            <a:ext cx="4864607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检索、文件与后台视频线程同进程，部署简单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2907792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68680" y="2907792"/>
            <a:ext cx="10515600" cy="530352"/>
          </a:xfrm>
          <a:prstGeom prst="rect">
            <a:avLst/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96695" y="3035173"/>
            <a:ext cx="1115568" cy="275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68296" y="3055175"/>
            <a:ext cx="3767328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 16 + pgvector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3055175"/>
            <a:ext cx="4864607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篇、章、层等结构化字段与向量存在同一个库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8680" y="3438144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68680" y="3438144"/>
            <a:ext cx="10515600" cy="530352"/>
          </a:xfrm>
          <a:prstGeom prst="rect">
            <a:avLst/>
          </a:prstGeom>
          <a:solidFill>
            <a:srgbClr val="F9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6695" y="3565525"/>
            <a:ext cx="1115568" cy="275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全文检索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8296" y="3585527"/>
            <a:ext cx="3767328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tsvector + GIN 索引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，另加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body LIKE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包含匹配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3585527"/>
            <a:ext cx="4864607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短语和包含匹配用来命中原句，向量负责白话提问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8680" y="3968496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68680" y="3968496"/>
            <a:ext cx="10515600" cy="530352"/>
          </a:xfrm>
          <a:prstGeom prst="rect">
            <a:avLst/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96695" y="4095875"/>
            <a:ext cx="1115568" cy="275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嵌入模型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68296" y="4115878"/>
            <a:ext cx="3767328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Ollama 托管 bge-m3（1024 维）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3997768"/>
            <a:ext cx="4864607" cy="471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多语言、长文本友好，可随数据卷导出，现场不必拉模型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，入库按约 1200 字切块后再嵌入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8680" y="4498848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68680" y="4498848"/>
            <a:ext cx="10515600" cy="530352"/>
          </a:xfrm>
          <a:prstGeom prst="rect">
            <a:avLst/>
          </a:prstGeom>
          <a:solidFill>
            <a:srgbClr val="F9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96695" y="4626229"/>
            <a:ext cx="1115568" cy="275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对话模型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68296" y="4646231"/>
            <a:ext cx="3767328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Chat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1656" y="4646231"/>
            <a:ext cx="4864607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中文与古文阐释较稳，接口兼容Chat Completions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68680" y="5029200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68680" y="5029200"/>
            <a:ext cx="10515600" cy="530352"/>
          </a:xfrm>
          <a:prstGeom prst="rect">
            <a:avLst/>
          </a:prstGeom>
          <a:solidFill>
            <a:srgbClr val="F3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6695" y="5156581"/>
            <a:ext cx="1115568" cy="275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68296" y="5176583"/>
            <a:ext cx="3767328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百炼CosyVoice / 人像重绘 / LivePortrait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1656" y="5058473"/>
            <a:ext cx="4864607" cy="471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语音、形象、数字人走通一条云链路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，失败分别有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wanx-v1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、悦动人像备用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68680" y="5559552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68680" y="5559552"/>
            <a:ext cx="10515600" cy="530352"/>
          </a:xfrm>
          <a:prstGeom prst="rect">
            <a:avLst/>
          </a:prstGeom>
          <a:solidFill>
            <a:srgbClr val="F9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96695" y="5686933"/>
            <a:ext cx="1115568" cy="275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认证与编排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68296" y="5706935"/>
            <a:ext cx="3767328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HttpOnly Cookie + PBKDF2；Docker Compose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91656" y="5706935"/>
            <a:ext cx="4864607" cy="2355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演示级账号够用，数据面与业务进程解耦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68680" y="6089904"/>
            <a:ext cx="10515600" cy="0"/>
          </a:xfrm>
          <a:prstGeom prst="line">
            <a:avLst/>
          </a:prstGeom>
          <a:ln w="7620">
            <a:solidFill>
              <a:srgbClr val="E3D8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aper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DE"/>
          </a:solidFill>
          <a:ln w="0">
            <a:noFill/>
            <a:prstDash val="solid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276225" y="238125"/>
            <a:ext cx="314325" cy="314325"/>
          </a:xfrm>
          <a:prstGeom prst="roundRect">
            <a:avLst>
              <a:gd name="adj" fmla="val 9091"/>
            </a:avLst>
          </a:prstGeom>
          <a:solidFill>
            <a:srgbClr val="9C2F26"/>
          </a:solidFill>
          <a:ln w="9525">
            <a:solidFill>
              <a:srgbClr val="7F26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238125"/>
            <a:ext cx="3143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6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16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286875" y="523875"/>
            <a:ext cx="18097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0" b="1">
                <a:solidFill>
                  <a:srgbClr val="E7DDC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0" b="1">
                <a:solidFill>
                  <a:srgbClr val="E7DDC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7500" b="1" i="0" u="none" strike="noStrike" kern="1200" cap="none" spc="0" normalizeH="0" baseline="0" noProof="0">
                <a:ln>
                  <a:noFill/>
                </a:ln>
                <a:solidFill>
                  <a:srgbClr val="E7DDCB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藏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428625"/>
            <a:ext cx="828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9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9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59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知识库构建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762000" y="1066800"/>
            <a:ext cx="10572750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952500"/>
            <a:ext cx="0" cy="5219700"/>
          </a:xfrm>
          <a:prstGeom prst="line">
            <a:avLst/>
          </a:prstGeom>
          <a:noFill/>
          <a:ln w="13335">
            <a:solidFill>
              <a:srgbClr val="D5C9B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810750" y="333375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350" b="1">
                <a:solidFill>
                  <a:srgbClr val="453D3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453D3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技术实现</a:t>
            </a: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1068050" y="266700"/>
            <a:ext cx="0" cy="352425"/>
          </a:xfrm>
          <a:prstGeom prst="line">
            <a:avLst/>
          </a:prstGeom>
          <a:noFill/>
          <a:ln w="14288">
            <a:solidFill>
              <a:srgbClr val="B08D5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1191875" y="238125"/>
            <a:ext cx="409575" cy="409575"/>
          </a:xfrm>
          <a:prstGeom prst="roundRect">
            <a:avLst>
              <a:gd name="adj" fmla="val 6977"/>
            </a:avLst>
          </a:prstGeom>
          <a:solidFill>
            <a:srgbClr val="9C2F26"/>
          </a:solidFill>
          <a:ln w="9525">
            <a:solidFill>
              <a:srgbClr val="7F261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191875" y="238125"/>
            <a:ext cx="409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1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1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1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叁</a:t>
            </a: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638175" y="6381750"/>
            <a:ext cx="10887075" cy="0"/>
          </a:xfrm>
          <a:prstGeom prst="line">
            <a:avLst/>
          </a:prstGeom>
          <a:noFill/>
          <a:ln w="9525">
            <a:solidFill>
              <a:srgbClr val="D0C4A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8175" y="6457950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790" b="0">
                <a:solidFill>
                  <a:srgbClr val="8B81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0" b="0">
                <a:solidFill>
                  <a:srgbClr val="8B81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790" b="0" i="0" u="none" strike="noStrike" kern="1200" cap="none" spc="0" normalizeH="0" baseline="0" noProof="0" dirty="0" err="1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790" b="0" i="0" u="none" strike="noStrike" kern="1200" cap="none" spc="0" normalizeH="0" baseline="0" noProof="0" dirty="0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790" b="0" i="0" u="none" strike="noStrike" kern="1200" cap="none" spc="0" normalizeH="0" baseline="0" noProof="0" dirty="0" err="1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endParaRPr kumimoji="0" sz="790" b="0" i="0" u="none" strike="noStrike" kern="1200" cap="none" spc="0" normalizeH="0" baseline="0" noProof="0" dirty="0">
              <a:ln>
                <a:noFill/>
              </a:ln>
              <a:solidFill>
                <a:srgbClr val="8B817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2010" y="11430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4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爬取数据后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先统一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Markdown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格式，再按原文、注疏、礼书与史传分别切块。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38200" y="1600200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952500" y="171450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62075" y="1685925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典籍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62075" y="196215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 Markdown</a:t>
            </a: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2686050" y="1905000"/>
            <a:ext cx="285750" cy="1524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3028950" y="1600200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3143250" y="171450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552825" y="1685925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格式统一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552825" y="196215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保留原文字句</a:t>
            </a:r>
          </a:p>
        </p:txBody>
      </p:sp>
      <p:sp>
        <p:nvSpPr>
          <p:cNvPr id="25" name="右箭头 24"/>
          <p:cNvSpPr>
            <a:spLocks noGrp="1"/>
          </p:cNvSpPr>
          <p:nvPr/>
        </p:nvSpPr>
        <p:spPr>
          <a:xfrm>
            <a:off x="4876800" y="1905000"/>
            <a:ext cx="285750" cy="1524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5219700" y="1600200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5334000" y="171450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743575" y="1685925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分层切块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743575" y="196215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按文献结构处理</a:t>
            </a: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7067550" y="1905000"/>
            <a:ext cx="285750" cy="1524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7410450" y="1600200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7524750" y="171450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934325" y="1685925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元数据标注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34325" y="196215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书、篇、章、层级</a:t>
            </a:r>
          </a:p>
        </p:txBody>
      </p:sp>
      <p:sp>
        <p:nvSpPr>
          <p:cNvPr id="35" name="右箭头 34"/>
          <p:cNvSpPr>
            <a:spLocks noGrp="1"/>
          </p:cNvSpPr>
          <p:nvPr/>
        </p:nvSpPr>
        <p:spPr>
          <a:xfrm>
            <a:off x="9258300" y="1905000"/>
            <a:ext cx="285750" cy="1524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9601200" y="1600200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9715500" y="1714500"/>
            <a:ext cx="323850" cy="323850"/>
          </a:xfrm>
          <a:prstGeom prst="ellipse">
            <a:avLst/>
          </a:prstGeom>
          <a:solidFill>
            <a:srgbClr val="B08D57"/>
          </a:solidFill>
          <a:ln w="0">
            <a:solidFill>
              <a:srgbClr val="B08D57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0125075" y="1685925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向量化入库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125075" y="196215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ollama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bge-m3</a:t>
            </a: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838200" y="2781300"/>
            <a:ext cx="1238250" cy="323850"/>
          </a:xfrm>
          <a:prstGeom prst="roundRect">
            <a:avLst>
              <a:gd name="adj" fmla="val 8824"/>
            </a:avLst>
          </a:prstGeom>
          <a:solidFill>
            <a:srgbClr val="9C2F26"/>
          </a:solidFill>
          <a:ln w="9525">
            <a:solidFill>
              <a:srgbClr val="9C2F26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95350" y="27813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四层文献</a:t>
            </a: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838200" y="3310890"/>
            <a:ext cx="2713990" cy="495300"/>
          </a:xfrm>
          <a:prstGeom prst="roundRect">
            <a:avLst>
              <a:gd name="adj" fmla="val 9615"/>
            </a:avLst>
          </a:prstGeom>
          <a:solidFill>
            <a:srgbClr val="FCF9F3"/>
          </a:solidFill>
          <a:ln w="9525">
            <a:solidFill>
              <a:srgbClr val="D8CEBC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67080" y="336804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原文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981200" y="3449320"/>
            <a:ext cx="723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B08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B08D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B08D5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590675" y="335788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90" b="0">
                <a:solidFill>
                  <a:srgbClr val="4D4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0">
                <a:solidFill>
                  <a:srgbClr val="4D4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D494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按章切分，一章一个块</a:t>
            </a: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38200" y="3999230"/>
            <a:ext cx="2703195" cy="495300"/>
          </a:xfrm>
          <a:prstGeom prst="roundRect">
            <a:avLst>
              <a:gd name="adj" fmla="val 9615"/>
            </a:avLst>
          </a:prstGeom>
          <a:solidFill>
            <a:srgbClr val="F8F2E7"/>
          </a:solidFill>
          <a:ln w="9525">
            <a:solidFill>
              <a:srgbClr val="D8CEBC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67080" y="405638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注疏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590675" y="403606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90" b="0">
                <a:solidFill>
                  <a:srgbClr val="4D4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0">
                <a:solidFill>
                  <a:srgbClr val="4D4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D494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使用原文锚句对齐章号</a:t>
            </a: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838200" y="4677410"/>
            <a:ext cx="2713990" cy="495300"/>
          </a:xfrm>
          <a:prstGeom prst="roundRect">
            <a:avLst>
              <a:gd name="adj" fmla="val 9615"/>
            </a:avLst>
          </a:prstGeom>
          <a:solidFill>
            <a:srgbClr val="FCF9F3"/>
          </a:solidFill>
          <a:ln w="9525">
            <a:solidFill>
              <a:srgbClr val="D8CEBC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67080" y="473456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礼书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590675" y="473456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90" b="0">
                <a:solidFill>
                  <a:srgbClr val="4D4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0">
                <a:solidFill>
                  <a:srgbClr val="4D4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D494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按篇切分，长篇继续细分</a:t>
            </a: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838200" y="5375910"/>
            <a:ext cx="3067685" cy="495300"/>
          </a:xfrm>
          <a:prstGeom prst="roundRect">
            <a:avLst>
              <a:gd name="adj" fmla="val 9615"/>
            </a:avLst>
          </a:prstGeom>
          <a:solidFill>
            <a:srgbClr val="F8F2E7"/>
          </a:solidFill>
          <a:ln w="9525">
            <a:solidFill>
              <a:srgbClr val="D8CEB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67080" y="543306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史传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590675" y="543306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90" b="0">
                <a:solidFill>
                  <a:srgbClr val="4D4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0">
                <a:solidFill>
                  <a:srgbClr val="4D4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D494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按篇组织，保留人物与事件语境</a:t>
            </a: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6997065" y="2832100"/>
            <a:ext cx="4476750" cy="3028950"/>
          </a:xfrm>
          <a:prstGeom prst="roundRect">
            <a:avLst>
              <a:gd name="adj" fmla="val 3145"/>
            </a:avLst>
          </a:prstGeom>
          <a:solidFill>
            <a:srgbClr val="F9F5EB"/>
          </a:solidFill>
          <a:ln w="9525">
            <a:solidFill>
              <a:srgbClr val="BFB39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9" name="矩形 58"/>
          <p:cNvSpPr>
            <a:spLocks noGrp="1"/>
          </p:cNvSpPr>
          <p:nvPr/>
        </p:nvSpPr>
        <p:spPr>
          <a:xfrm>
            <a:off x="7254240" y="2994025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举例：</a:t>
            </a: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一个可检索数据块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1B1916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0" name="直接连接符 59"/>
          <p:cNvSpPr>
            <a:spLocks noGrp="1"/>
          </p:cNvSpPr>
          <p:nvPr/>
        </p:nvSpPr>
        <p:spPr>
          <a:xfrm>
            <a:off x="7254240" y="3403600"/>
            <a:ext cx="3905250" cy="0"/>
          </a:xfrm>
          <a:prstGeom prst="line">
            <a:avLst/>
          </a:prstGeom>
          <a:noFill/>
          <a:ln w="11430">
            <a:solidFill>
              <a:srgbClr val="456F61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254240" y="3575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书名</a:t>
            </a: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025765" y="35750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《论语集注》</a:t>
            </a:r>
          </a:p>
        </p:txBody>
      </p:sp>
      <p:sp>
        <p:nvSpPr>
          <p:cNvPr id="63" name="直接连接符 62"/>
          <p:cNvSpPr>
            <a:spLocks noGrp="1"/>
          </p:cNvSpPr>
          <p:nvPr/>
        </p:nvSpPr>
        <p:spPr>
          <a:xfrm>
            <a:off x="7254240" y="3870325"/>
            <a:ext cx="3905250" cy="0"/>
          </a:xfrm>
          <a:prstGeom prst="line">
            <a:avLst/>
          </a:prstGeom>
          <a:noFill/>
          <a:ln w="7620">
            <a:solidFill>
              <a:srgbClr val="E2D8C6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7254240" y="39179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篇</a:t>
            </a: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8025765" y="39179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学而第一</a:t>
            </a:r>
          </a:p>
        </p:txBody>
      </p:sp>
      <p:sp>
        <p:nvSpPr>
          <p:cNvPr id="66" name="直接连接符 65"/>
          <p:cNvSpPr>
            <a:spLocks noGrp="1"/>
          </p:cNvSpPr>
          <p:nvPr/>
        </p:nvSpPr>
        <p:spPr>
          <a:xfrm>
            <a:off x="7254240" y="4213225"/>
            <a:ext cx="3905250" cy="0"/>
          </a:xfrm>
          <a:prstGeom prst="line">
            <a:avLst/>
          </a:prstGeom>
          <a:noFill/>
          <a:ln w="7620">
            <a:solidFill>
              <a:srgbClr val="E2D8C6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7254240" y="42608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章</a:t>
            </a: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025765" y="42608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</a:p>
        </p:txBody>
      </p:sp>
      <p:sp>
        <p:nvSpPr>
          <p:cNvPr id="69" name="直接连接符 68"/>
          <p:cNvSpPr>
            <a:spLocks noGrp="1"/>
          </p:cNvSpPr>
          <p:nvPr/>
        </p:nvSpPr>
        <p:spPr>
          <a:xfrm>
            <a:off x="7254240" y="4556125"/>
            <a:ext cx="3905250" cy="0"/>
          </a:xfrm>
          <a:prstGeom prst="line">
            <a:avLst/>
          </a:prstGeom>
          <a:noFill/>
          <a:ln w="7620">
            <a:solidFill>
              <a:srgbClr val="E2D8C6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254240" y="46037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层级</a:t>
            </a: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8025765" y="46037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注疏</a:t>
            </a:r>
          </a:p>
        </p:txBody>
      </p:sp>
      <p:sp>
        <p:nvSpPr>
          <p:cNvPr id="72" name="直接连接符 71"/>
          <p:cNvSpPr>
            <a:spLocks noGrp="1"/>
          </p:cNvSpPr>
          <p:nvPr/>
        </p:nvSpPr>
        <p:spPr>
          <a:xfrm>
            <a:off x="7254240" y="4899025"/>
            <a:ext cx="3905250" cy="0"/>
          </a:xfrm>
          <a:prstGeom prst="line">
            <a:avLst/>
          </a:prstGeom>
          <a:noFill/>
          <a:ln w="7620">
            <a:solidFill>
              <a:srgbClr val="E2D8C6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7254240" y="49466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锚句</a:t>
            </a: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8025765" y="49466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学而时习之</a:t>
            </a:r>
          </a:p>
        </p:txBody>
      </p:sp>
      <p:sp>
        <p:nvSpPr>
          <p:cNvPr id="75" name="直接连接符 74"/>
          <p:cNvSpPr>
            <a:spLocks noGrp="1"/>
          </p:cNvSpPr>
          <p:nvPr/>
        </p:nvSpPr>
        <p:spPr>
          <a:xfrm>
            <a:off x="7254240" y="5241925"/>
            <a:ext cx="3905250" cy="0"/>
          </a:xfrm>
          <a:prstGeom prst="line">
            <a:avLst/>
          </a:prstGeom>
          <a:noFill/>
          <a:ln w="7620">
            <a:solidFill>
              <a:srgbClr val="E2D8C6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7254240" y="5289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9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正文</a:t>
            </a: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8025765" y="528955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9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保留原文，不因对齐而改写</a:t>
            </a:r>
          </a:p>
        </p:txBody>
      </p:sp>
      <p:pic>
        <p:nvPicPr>
          <p:cNvPr id="81" name="图片 80" descr="数据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750" y="2913380"/>
            <a:ext cx="2254250" cy="2039620"/>
          </a:xfrm>
          <a:prstGeom prst="rect">
            <a:avLst/>
          </a:prstGeom>
        </p:spPr>
      </p:pic>
      <p:pic>
        <p:nvPicPr>
          <p:cNvPr id="82" name="图片 81" descr="数据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75" y="4041775"/>
            <a:ext cx="2167255" cy="1995170"/>
          </a:xfrm>
          <a:prstGeom prst="rect">
            <a:avLst/>
          </a:prstGeom>
          <a:ln w="12700" cmpd="sng">
            <a:solidFill>
              <a:schemeClr val="bg1"/>
            </a:solidFill>
            <a:prstDash val="solid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aper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DE"/>
          </a:solidFill>
          <a:ln w="0">
            <a:noFill/>
            <a:prstDash val="solid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276225" y="238125"/>
            <a:ext cx="314325" cy="314325"/>
          </a:xfrm>
          <a:prstGeom prst="roundRect">
            <a:avLst>
              <a:gd name="adj" fmla="val 9091"/>
            </a:avLst>
          </a:prstGeom>
          <a:solidFill>
            <a:srgbClr val="9C2F26"/>
          </a:solidFill>
          <a:ln w="9525">
            <a:solidFill>
              <a:srgbClr val="7F26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238125"/>
            <a:ext cx="3143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6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16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286875" y="523875"/>
            <a:ext cx="18097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0" b="1">
                <a:solidFill>
                  <a:srgbClr val="E7DDC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0" b="1">
                <a:solidFill>
                  <a:srgbClr val="E7DDC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7500" b="1" i="0" u="none" strike="noStrike" kern="1200" cap="none" spc="0" normalizeH="0" baseline="0" noProof="0">
                <a:ln>
                  <a:noFill/>
                </a:ln>
                <a:solidFill>
                  <a:srgbClr val="E7DDCB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索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428625"/>
            <a:ext cx="828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9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9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59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混合检索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762000" y="1066800"/>
            <a:ext cx="10572750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952500"/>
            <a:ext cx="0" cy="5219700"/>
          </a:xfrm>
          <a:prstGeom prst="line">
            <a:avLst/>
          </a:prstGeom>
          <a:noFill/>
          <a:ln w="13335">
            <a:solidFill>
              <a:srgbClr val="D5C9B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810750" y="333375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350" b="1">
                <a:solidFill>
                  <a:srgbClr val="453D3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453D3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技术实现</a:t>
            </a: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1068050" y="266700"/>
            <a:ext cx="0" cy="352425"/>
          </a:xfrm>
          <a:prstGeom prst="line">
            <a:avLst/>
          </a:prstGeom>
          <a:noFill/>
          <a:ln w="14288">
            <a:solidFill>
              <a:srgbClr val="B08D5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1191875" y="238125"/>
            <a:ext cx="409575" cy="409575"/>
          </a:xfrm>
          <a:prstGeom prst="roundRect">
            <a:avLst>
              <a:gd name="adj" fmla="val 6977"/>
            </a:avLst>
          </a:prstGeom>
          <a:solidFill>
            <a:srgbClr val="9C2F26"/>
          </a:solidFill>
          <a:ln w="9525">
            <a:solidFill>
              <a:srgbClr val="7F261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191875" y="238125"/>
            <a:ext cx="409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1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1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1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叁</a:t>
            </a: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638175" y="6381750"/>
            <a:ext cx="10887075" cy="0"/>
          </a:xfrm>
          <a:prstGeom prst="line">
            <a:avLst/>
          </a:prstGeom>
          <a:noFill/>
          <a:ln w="9525">
            <a:solidFill>
              <a:srgbClr val="D0C4A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8175" y="6457950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790" b="0">
                <a:solidFill>
                  <a:srgbClr val="8B81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0" b="0">
                <a:solidFill>
                  <a:srgbClr val="8B81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790" b="0" i="0" u="none" strike="noStrike" kern="1200" cap="none" spc="0" normalizeH="0" baseline="0" noProof="0" dirty="0" err="1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790" b="0" i="0" u="none" strike="noStrike" kern="1200" cap="none" spc="0" normalizeH="0" baseline="0" noProof="0" dirty="0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790" b="0" i="0" u="none" strike="noStrike" kern="1200" cap="none" spc="0" normalizeH="0" baseline="0" noProof="0" dirty="0" err="1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endParaRPr kumimoji="0" sz="790" b="0" i="0" u="none" strike="noStrike" kern="1200" cap="none" spc="0" normalizeH="0" baseline="0" noProof="0" dirty="0">
              <a:ln>
                <a:noFill/>
              </a:ln>
              <a:solidFill>
                <a:srgbClr val="8B817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1143000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4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用户既会粘贴古文，也会用现代汉语描述处境，因此检索同时走三条通道。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38200" y="1714500"/>
            <a:ext cx="3048000" cy="990600"/>
          </a:xfrm>
          <a:prstGeom prst="roundRect">
            <a:avLst>
              <a:gd name="adj" fmla="val 7692"/>
            </a:avLst>
          </a:prstGeom>
          <a:solidFill>
            <a:srgbClr val="FBF8F1"/>
          </a:solidFill>
          <a:ln w="9525">
            <a:solidFill>
              <a:srgbClr val="9C2F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28700" y="182880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短语全文</a:t>
            </a: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2667000" y="1838325"/>
            <a:ext cx="990600" cy="276225"/>
          </a:xfrm>
          <a:prstGeom prst="roundRect">
            <a:avLst>
              <a:gd name="adj" fmla="val 10345"/>
            </a:avLst>
          </a:prstGeom>
          <a:solidFill>
            <a:srgbClr val="9C2F26"/>
          </a:solidFill>
          <a:ln w="9525">
            <a:solidFill>
              <a:srgbClr val="9C2F2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667000" y="1838325"/>
            <a:ext cx="990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40" b="1">
                <a:solidFill>
                  <a:srgbClr val="FFF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40" b="1">
                <a:solidFill>
                  <a:srgbClr val="FFF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 1.0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28700" y="2138680"/>
            <a:ext cx="2571750" cy="546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40000" lnSpcReduction="20000"/>
          </a:bodyPr>
          <a:lstStyle>
            <a:defPPr algn="l">
              <a:defRPr sz="96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en-US" altLang="zh-CN" sz="96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整句连续出现，适合直接粘贴原文。走</a:t>
            </a:r>
            <a:r>
              <a:rPr kumimoji="0" lang="en-US" altLang="zh-CN" sz="33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</a:t>
            </a: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短语检索。</a:t>
            </a: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3971925" y="2114550"/>
            <a:ext cx="533400" cy="1905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838200" y="2971800"/>
            <a:ext cx="3048000" cy="990600"/>
          </a:xfrm>
          <a:prstGeom prst="roundRect">
            <a:avLst>
              <a:gd name="adj" fmla="val 7692"/>
            </a:avLst>
          </a:prstGeom>
          <a:solidFill>
            <a:srgbClr val="FBF8F1"/>
          </a:solidFill>
          <a:ln w="9525">
            <a:solidFill>
              <a:srgbClr val="2F4A4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1028700" y="308610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子串包含</a:t>
            </a: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2667000" y="3095625"/>
            <a:ext cx="990600" cy="276225"/>
          </a:xfrm>
          <a:prstGeom prst="roundRect">
            <a:avLst>
              <a:gd name="adj" fmla="val 10345"/>
            </a:avLst>
          </a:prstGeom>
          <a:solidFill>
            <a:srgbClr val="2F4A40"/>
          </a:solidFill>
          <a:ln w="9525">
            <a:solidFill>
              <a:srgbClr val="2F4A40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667000" y="3095625"/>
            <a:ext cx="990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40" b="1">
                <a:solidFill>
                  <a:srgbClr val="FFF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40" b="1">
                <a:solidFill>
                  <a:srgbClr val="FFF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 0.8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28700" y="3476625"/>
            <a:ext cx="2571750" cy="447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40000" lnSpcReduction="20000"/>
          </a:bodyPr>
          <a:lstStyle>
            <a:defPPr algn="l">
              <a:defRPr sz="96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33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不依赖分词，适合文言短句和人物名。整句出现在正文里即命中。</a:t>
            </a: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3971925" y="3371850"/>
            <a:ext cx="533400" cy="1905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838200" y="4229100"/>
            <a:ext cx="3048000" cy="1322070"/>
          </a:xfrm>
          <a:prstGeom prst="roundRect">
            <a:avLst>
              <a:gd name="adj" fmla="val 7692"/>
            </a:avLst>
          </a:prstGeom>
          <a:solidFill>
            <a:srgbClr val="FBF8F1"/>
          </a:solidFill>
          <a:ln w="9525">
            <a:solidFill>
              <a:srgbClr val="466C9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9" name="矩形 28"/>
          <p:cNvSpPr>
            <a:spLocks noGrp="1"/>
          </p:cNvSpPr>
          <p:nvPr/>
        </p:nvSpPr>
        <p:spPr>
          <a:xfrm>
            <a:off x="1028700" y="434340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466C9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466C9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466C98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向量近邻</a:t>
            </a: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2667000" y="4352925"/>
            <a:ext cx="990600" cy="276225"/>
          </a:xfrm>
          <a:prstGeom prst="roundRect">
            <a:avLst>
              <a:gd name="adj" fmla="val 10345"/>
            </a:avLst>
          </a:prstGeom>
          <a:solidFill>
            <a:srgbClr val="466C98"/>
          </a:solidFill>
          <a:ln w="9525">
            <a:solidFill>
              <a:srgbClr val="466C9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667000" y="4352925"/>
            <a:ext cx="990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40" b="1">
                <a:solidFill>
                  <a:srgbClr val="FFF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40" b="1">
                <a:solidFill>
                  <a:srgbClr val="FFF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 0.5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28700" y="4733925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l">
              <a:defRPr sz="96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适合白话问题和现代处境表达。问句与书块都用bge-m3，向量存在 pgvector里，按 HNSW 余弦索引取近邻。</a:t>
            </a:r>
          </a:p>
        </p:txBody>
      </p:sp>
      <p:sp>
        <p:nvSpPr>
          <p:cNvPr id="33" name="右箭头 32"/>
          <p:cNvSpPr>
            <a:spLocks noGrp="1"/>
          </p:cNvSpPr>
          <p:nvPr/>
        </p:nvSpPr>
        <p:spPr>
          <a:xfrm>
            <a:off x="3971925" y="4629150"/>
            <a:ext cx="533400" cy="1905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4572000" y="2343150"/>
            <a:ext cx="2190750" cy="2266950"/>
          </a:xfrm>
          <a:prstGeom prst="roundRect">
            <a:avLst>
              <a:gd name="adj" fmla="val 5217"/>
            </a:avLst>
          </a:prstGeom>
          <a:solidFill>
            <a:srgbClr val="2F4A40"/>
          </a:solidFill>
          <a:ln w="9525">
            <a:solidFill>
              <a:srgbClr val="2F4A4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4810125" y="2628900"/>
            <a:ext cx="171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RRF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融合排序</a:t>
            </a:r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4857750" y="3514725"/>
            <a:ext cx="1619250" cy="0"/>
          </a:xfrm>
          <a:prstGeom prst="line">
            <a:avLst/>
          </a:prstGeom>
          <a:noFill/>
          <a:ln w="9525">
            <a:solidFill>
              <a:srgbClr val="C9B78D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857750" y="3676650"/>
            <a:ext cx="1619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940" b="0">
                <a:solidFill>
                  <a:srgbClr val="FFF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40" b="0">
                <a:solidFill>
                  <a:srgbClr val="FFF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每路先取最多30条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40" b="0">
                <a:solidFill>
                  <a:srgbClr val="FFF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名次越靠前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40" b="0">
                <a:solidFill>
                  <a:srgbClr val="FFF8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融合得分越高</a:t>
            </a:r>
          </a:p>
        </p:txBody>
      </p:sp>
      <p:sp>
        <p:nvSpPr>
          <p:cNvPr id="38" name="右箭头 37"/>
          <p:cNvSpPr>
            <a:spLocks noGrp="1"/>
          </p:cNvSpPr>
          <p:nvPr/>
        </p:nvSpPr>
        <p:spPr>
          <a:xfrm>
            <a:off x="6838950" y="3295650"/>
            <a:ext cx="590550" cy="20955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7524750" y="1676400"/>
            <a:ext cx="3810000" cy="647700"/>
          </a:xfrm>
          <a:prstGeom prst="roundRect">
            <a:avLst>
              <a:gd name="adj" fmla="val 11765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40" name="椭圆 39"/>
          <p:cNvSpPr>
            <a:spLocks noGrp="1"/>
          </p:cNvSpPr>
          <p:nvPr/>
        </p:nvSpPr>
        <p:spPr>
          <a:xfrm>
            <a:off x="7639050" y="179070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048625" y="1762125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前15名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048625" y="2038350"/>
            <a:ext cx="3162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保留融合后的候选块</a:t>
            </a: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524750" y="2514600"/>
            <a:ext cx="3810000" cy="647700"/>
          </a:xfrm>
          <a:prstGeom prst="roundRect">
            <a:avLst>
              <a:gd name="adj" fmla="val 11765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7639050" y="262890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048625" y="2600325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同章补全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048625" y="2876550"/>
            <a:ext cx="3162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命中原文后补入相关注疏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7524750" y="3352800"/>
            <a:ext cx="3810000" cy="647700"/>
          </a:xfrm>
          <a:prstGeom prst="roundRect">
            <a:avLst>
              <a:gd name="adj" fmla="val 11765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48" name="椭圆 47"/>
          <p:cNvSpPr>
            <a:spLocks noGrp="1"/>
          </p:cNvSpPr>
          <p:nvPr/>
        </p:nvSpPr>
        <p:spPr>
          <a:xfrm>
            <a:off x="7639050" y="346710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048625" y="3438525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业务加分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048625" y="3714750"/>
            <a:ext cx="3162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原句、章号与原典层优先</a:t>
            </a: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7524750" y="4191000"/>
            <a:ext cx="3810000" cy="647700"/>
          </a:xfrm>
          <a:prstGeom prst="roundRect">
            <a:avLst>
              <a:gd name="adj" fmla="val 11765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7639050" y="430530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048625" y="4276725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结果去重</a:t>
            </a: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048625" y="4552950"/>
            <a:ext cx="3162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同一本书最多保留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</a:t>
            </a: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7524750" y="5029200"/>
            <a:ext cx="3810000" cy="647700"/>
          </a:xfrm>
          <a:prstGeom prst="roundRect">
            <a:avLst>
              <a:gd name="adj" fmla="val 11765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7639050" y="5143500"/>
            <a:ext cx="323850" cy="323850"/>
          </a:xfrm>
          <a:prstGeom prst="ellipse">
            <a:avLst/>
          </a:prstGeom>
          <a:solidFill>
            <a:srgbClr val="9C2F26"/>
          </a:solidFill>
          <a:ln w="0">
            <a:solidFill>
              <a:srgbClr val="9C2F26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048625" y="5114925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送入模型</a:t>
            </a: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048625" y="5391150"/>
            <a:ext cx="3162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默认选择约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个材料块</a:t>
            </a: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838200" y="5756275"/>
            <a:ext cx="10496550" cy="523875"/>
          </a:xfrm>
          <a:prstGeom prst="roundRect">
            <a:avLst>
              <a:gd name="adj" fmla="val 9091"/>
            </a:avLst>
          </a:prstGeom>
          <a:solidFill>
            <a:srgbClr val="EEE4D1"/>
          </a:solidFill>
          <a:ln w="9525">
            <a:solidFill>
              <a:srgbClr val="CABA9E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028700" y="5823585"/>
            <a:ext cx="99250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基本原则：</a:t>
            </a: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关键词保证章句可核对，向量检索负责理解白话，同章补全原文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和</a:t>
            </a: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注疏。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aper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DE"/>
          </a:solidFill>
          <a:ln w="0">
            <a:noFill/>
            <a:prstDash val="solid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276225" y="238125"/>
            <a:ext cx="314325" cy="314325"/>
          </a:xfrm>
          <a:prstGeom prst="roundRect">
            <a:avLst>
              <a:gd name="adj" fmla="val 9091"/>
            </a:avLst>
          </a:prstGeom>
          <a:solidFill>
            <a:srgbClr val="9C2F26"/>
          </a:solidFill>
          <a:ln w="9525">
            <a:solidFill>
              <a:srgbClr val="7F26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238125"/>
            <a:ext cx="3143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6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16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286875" y="523875"/>
            <a:ext cx="18097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0" b="1">
                <a:solidFill>
                  <a:srgbClr val="E7DDC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0" b="1">
                <a:solidFill>
                  <a:srgbClr val="E7DDC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7500" b="1" i="0" u="none" strike="noStrike" kern="1200" cap="none" spc="0" normalizeH="0" baseline="0" noProof="0">
                <a:ln>
                  <a:noFill/>
                </a:ln>
                <a:solidFill>
                  <a:srgbClr val="E7DDCB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生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428625"/>
            <a:ext cx="828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9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9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59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生成链路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762000" y="1066800"/>
            <a:ext cx="10572750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952500"/>
            <a:ext cx="0" cy="5219700"/>
          </a:xfrm>
          <a:prstGeom prst="line">
            <a:avLst/>
          </a:prstGeom>
          <a:noFill/>
          <a:ln w="13335">
            <a:solidFill>
              <a:srgbClr val="D5C9B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810750" y="333375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350" b="1">
                <a:solidFill>
                  <a:srgbClr val="453D3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453D3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技术实现</a:t>
            </a: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1068050" y="266700"/>
            <a:ext cx="0" cy="352425"/>
          </a:xfrm>
          <a:prstGeom prst="line">
            <a:avLst/>
          </a:prstGeom>
          <a:noFill/>
          <a:ln w="14288">
            <a:solidFill>
              <a:srgbClr val="B08D5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1191875" y="238125"/>
            <a:ext cx="409575" cy="409575"/>
          </a:xfrm>
          <a:prstGeom prst="roundRect">
            <a:avLst>
              <a:gd name="adj" fmla="val 6977"/>
            </a:avLst>
          </a:prstGeom>
          <a:solidFill>
            <a:srgbClr val="9C2F26"/>
          </a:solidFill>
          <a:ln w="9525">
            <a:solidFill>
              <a:srgbClr val="7F261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191875" y="238125"/>
            <a:ext cx="409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1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1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1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叁</a:t>
            </a: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638175" y="6381750"/>
            <a:ext cx="10887075" cy="0"/>
          </a:xfrm>
          <a:prstGeom prst="line">
            <a:avLst/>
          </a:prstGeom>
          <a:noFill/>
          <a:ln w="9525">
            <a:solidFill>
              <a:srgbClr val="D0C4A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8175" y="6457950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790" b="0">
                <a:solidFill>
                  <a:srgbClr val="8B81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0" b="0">
                <a:solidFill>
                  <a:srgbClr val="8B81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790" b="0" i="0" u="none" strike="noStrike" kern="1200" cap="none" spc="0" normalizeH="0" baseline="0" noProof="0" dirty="0" err="1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790" b="0" i="0" u="none" strike="noStrike" kern="1200" cap="none" spc="0" normalizeH="0" baseline="0" noProof="0" dirty="0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790" b="0" i="0" u="none" strike="noStrike" kern="1200" cap="none" spc="0" normalizeH="0" baseline="0" noProof="0" dirty="0" err="1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endParaRPr kumimoji="0" sz="790" b="0" i="0" u="none" strike="noStrike" kern="1200" cap="none" spc="0" normalizeH="0" baseline="0" noProof="0" dirty="0">
              <a:ln>
                <a:noFill/>
              </a:ln>
              <a:solidFill>
                <a:srgbClr val="8B817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1143000"/>
            <a:ext cx="962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8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8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问答、先贤与风骨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走各自的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生成流程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问答用两个Agent，先贤用人设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，风骨按步骤调用模型。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19150" y="1581150"/>
            <a:ext cx="10534650" cy="1219200"/>
          </a:xfrm>
          <a:prstGeom prst="roundRect">
            <a:avLst>
              <a:gd name="adj" fmla="val 7031"/>
            </a:avLst>
          </a:prstGeom>
          <a:solidFill>
            <a:srgbClr val="FCF9F3"/>
          </a:solidFill>
          <a:ln w="9525">
            <a:solidFill>
              <a:srgbClr val="D2C6B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圆角矩形 16"/>
          <p:cNvSpPr>
            <a:spLocks noGrp="1"/>
          </p:cNvSpPr>
          <p:nvPr/>
        </p:nvSpPr>
        <p:spPr>
          <a:xfrm>
            <a:off x="981075" y="1724025"/>
            <a:ext cx="1000125" cy="476250"/>
          </a:xfrm>
          <a:prstGeom prst="roundRect">
            <a:avLst>
              <a:gd name="adj" fmla="val 10000"/>
            </a:avLst>
          </a:prstGeom>
          <a:solidFill>
            <a:srgbClr val="9C2F26"/>
          </a:solidFill>
          <a:ln w="9525">
            <a:solidFill>
              <a:srgbClr val="9C2F2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81075" y="1724025"/>
            <a:ext cx="100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问答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238375" y="1704975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305050" y="170497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问题与模式</a:t>
            </a: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3800475" y="1866900"/>
            <a:ext cx="190500" cy="152400"/>
          </a:xfrm>
          <a:prstGeom prst="rightArrow">
            <a:avLst/>
          </a:prstGeom>
          <a:solidFill>
            <a:srgbClr val="9C2F26"/>
          </a:solidFill>
          <a:ln w="3810">
            <a:solidFill>
              <a:srgbClr val="9C2F26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3990975" y="1704975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057650" y="170497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895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95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接谈/问答Agent</a:t>
            </a: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5553075" y="1866900"/>
            <a:ext cx="190500" cy="152400"/>
          </a:xfrm>
          <a:prstGeom prst="rightArrow">
            <a:avLst/>
          </a:prstGeom>
          <a:solidFill>
            <a:srgbClr val="9C2F26"/>
          </a:solidFill>
          <a:ln w="3810">
            <a:solidFill>
              <a:srgbClr val="9C2F26"/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5743575" y="1704975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810250" y="170497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混合检索</a:t>
            </a: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7305675" y="1866900"/>
            <a:ext cx="190500" cy="152400"/>
          </a:xfrm>
          <a:prstGeom prst="rightArrow">
            <a:avLst/>
          </a:prstGeom>
          <a:solidFill>
            <a:srgbClr val="9C2F26"/>
          </a:solidFill>
          <a:ln w="3810">
            <a:solidFill>
              <a:srgbClr val="9C2F26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7496175" y="1704975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562850" y="170497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DeepSeek生成</a:t>
            </a: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9058275" y="1866900"/>
            <a:ext cx="190500" cy="152400"/>
          </a:xfrm>
          <a:prstGeom prst="rightArrow">
            <a:avLst/>
          </a:prstGeom>
          <a:solidFill>
            <a:srgbClr val="9C2F26"/>
          </a:solidFill>
          <a:ln w="3810">
            <a:solidFill>
              <a:srgbClr val="9C2F26"/>
            </a:solidFill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9248775" y="1704975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9C2F26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315450" y="170497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1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1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回答+出处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238375" y="2263140"/>
            <a:ext cx="8620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3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3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寒暄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等非问答形式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进入接谈 Agent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不查库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其余进入问答 Agent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先混合检索，再按治学、修心、修身生成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先返回出处，再流式生成正文。</a:t>
            </a: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19150" y="2924175"/>
            <a:ext cx="10534650" cy="1219200"/>
          </a:xfrm>
          <a:prstGeom prst="roundRect">
            <a:avLst>
              <a:gd name="adj" fmla="val 7031"/>
            </a:avLst>
          </a:prstGeom>
          <a:solidFill>
            <a:srgbClr val="F8F2E7"/>
          </a:solidFill>
          <a:ln w="9525">
            <a:solidFill>
              <a:srgbClr val="D2C6B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6" name="圆角矩形 35"/>
          <p:cNvSpPr>
            <a:spLocks noGrp="1"/>
          </p:cNvSpPr>
          <p:nvPr/>
        </p:nvSpPr>
        <p:spPr>
          <a:xfrm>
            <a:off x="981075" y="3067050"/>
            <a:ext cx="1000125" cy="476250"/>
          </a:xfrm>
          <a:prstGeom prst="roundRect">
            <a:avLst>
              <a:gd name="adj" fmla="val 10000"/>
            </a:avLst>
          </a:prstGeom>
          <a:solidFill>
            <a:srgbClr val="2F4A40"/>
          </a:solidFill>
          <a:ln w="9525">
            <a:solidFill>
              <a:srgbClr val="2F4A4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81075" y="3067050"/>
            <a:ext cx="100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先贤</a:t>
            </a: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2238375" y="3048000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2305050" y="3048000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用户话题</a:t>
            </a:r>
          </a:p>
        </p:txBody>
      </p:sp>
      <p:sp>
        <p:nvSpPr>
          <p:cNvPr id="40" name="右箭头 39"/>
          <p:cNvSpPr>
            <a:spLocks noGrp="1"/>
          </p:cNvSpPr>
          <p:nvPr/>
        </p:nvSpPr>
        <p:spPr>
          <a:xfrm>
            <a:off x="3800475" y="3209925"/>
            <a:ext cx="190500" cy="152400"/>
          </a:xfrm>
          <a:prstGeom prst="rightArrow">
            <a:avLst/>
          </a:prstGeom>
          <a:solidFill>
            <a:srgbClr val="2F4A40"/>
          </a:solidFill>
          <a:ln w="3810">
            <a:solidFill>
              <a:srgbClr val="2F4A40"/>
            </a:solidFill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3990975" y="3048000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057650" y="3048000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确定座次</a:t>
            </a:r>
          </a:p>
        </p:txBody>
      </p:sp>
      <p:sp>
        <p:nvSpPr>
          <p:cNvPr id="43" name="右箭头 42"/>
          <p:cNvSpPr>
            <a:spLocks noGrp="1"/>
          </p:cNvSpPr>
          <p:nvPr/>
        </p:nvSpPr>
        <p:spPr>
          <a:xfrm>
            <a:off x="5553075" y="3209925"/>
            <a:ext cx="190500" cy="152400"/>
          </a:xfrm>
          <a:prstGeom prst="rightArrow">
            <a:avLst/>
          </a:prstGeom>
          <a:solidFill>
            <a:srgbClr val="2F4A40"/>
          </a:solidFill>
          <a:ln w="3810">
            <a:solidFill>
              <a:srgbClr val="2F4A40"/>
            </a:solidFill>
            <a:prstDash val="solid"/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5743575" y="3048000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810250" y="3048000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逐人检索</a:t>
            </a:r>
          </a:p>
        </p:txBody>
      </p:sp>
      <p:sp>
        <p:nvSpPr>
          <p:cNvPr id="46" name="右箭头 45"/>
          <p:cNvSpPr>
            <a:spLocks noGrp="1"/>
          </p:cNvSpPr>
          <p:nvPr/>
        </p:nvSpPr>
        <p:spPr>
          <a:xfrm>
            <a:off x="7305675" y="3209925"/>
            <a:ext cx="190500" cy="152400"/>
          </a:xfrm>
          <a:prstGeom prst="rightArrow">
            <a:avLst/>
          </a:prstGeom>
          <a:solidFill>
            <a:srgbClr val="2F4A40"/>
          </a:solidFill>
          <a:ln w="3810">
            <a:solidFill>
              <a:srgbClr val="2F4A40"/>
            </a:solidFill>
            <a:prstDash val="solid"/>
          </a:ln>
        </p:spPr>
      </p:sp>
      <p:sp>
        <p:nvSpPr>
          <p:cNvPr id="47" name="圆角矩形 46"/>
          <p:cNvSpPr>
            <a:spLocks noGrp="1"/>
          </p:cNvSpPr>
          <p:nvPr/>
        </p:nvSpPr>
        <p:spPr>
          <a:xfrm>
            <a:off x="7496175" y="3048000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562850" y="3048000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895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95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按SKILL.md生成</a:t>
            </a:r>
          </a:p>
        </p:txBody>
      </p:sp>
      <p:sp>
        <p:nvSpPr>
          <p:cNvPr id="49" name="右箭头 48"/>
          <p:cNvSpPr>
            <a:spLocks noGrp="1"/>
          </p:cNvSpPr>
          <p:nvPr/>
        </p:nvSpPr>
        <p:spPr>
          <a:xfrm>
            <a:off x="9058275" y="3209925"/>
            <a:ext cx="190500" cy="152400"/>
          </a:xfrm>
          <a:prstGeom prst="rightArrow">
            <a:avLst/>
          </a:prstGeom>
          <a:solidFill>
            <a:srgbClr val="2F4A40"/>
          </a:solidFill>
          <a:ln w="3810">
            <a:solidFill>
              <a:srgbClr val="2F4A40"/>
            </a:solidFill>
            <a:prstDash val="solid"/>
          </a:ln>
        </p:spPr>
      </p:sp>
      <p:sp>
        <p:nvSpPr>
          <p:cNvPr id="50" name="圆角矩形 49"/>
          <p:cNvSpPr>
            <a:spLocks noGrp="1"/>
          </p:cNvSpPr>
          <p:nvPr/>
        </p:nvSpPr>
        <p:spPr>
          <a:xfrm>
            <a:off x="9248775" y="3048000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2F4A4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9315450" y="3048000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围坐/私聊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238375" y="3616325"/>
            <a:ext cx="8620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3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3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及其弟子围坐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，一场 4 到 5 人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每人一份 SKILL.md，和围坐规则一起放进提示词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后一人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可环境感知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读到前文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819150" y="4267200"/>
            <a:ext cx="10534650" cy="1219200"/>
          </a:xfrm>
          <a:prstGeom prst="roundRect">
            <a:avLst>
              <a:gd name="adj" fmla="val 7031"/>
            </a:avLst>
          </a:prstGeom>
          <a:solidFill>
            <a:srgbClr val="FCF9F3"/>
          </a:solidFill>
          <a:ln w="9525">
            <a:solidFill>
              <a:srgbClr val="D2C6B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5" name="圆角矩形 54"/>
          <p:cNvSpPr>
            <a:spLocks noGrp="1"/>
          </p:cNvSpPr>
          <p:nvPr/>
        </p:nvSpPr>
        <p:spPr>
          <a:xfrm>
            <a:off x="981075" y="4410075"/>
            <a:ext cx="1000125" cy="476250"/>
          </a:xfrm>
          <a:prstGeom prst="roundRect">
            <a:avLst>
              <a:gd name="adj" fmla="val 10000"/>
            </a:avLst>
          </a:prstGeom>
          <a:solidFill>
            <a:srgbClr val="B08D57"/>
          </a:solidFill>
          <a:ln w="9525">
            <a:solidFill>
              <a:srgbClr val="B08D57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81075" y="4410075"/>
            <a:ext cx="100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风骨</a:t>
            </a: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2238375" y="4391025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2305050" y="439102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五德测试</a:t>
            </a:r>
          </a:p>
        </p:txBody>
      </p:sp>
      <p:sp>
        <p:nvSpPr>
          <p:cNvPr id="59" name="右箭头 58"/>
          <p:cNvSpPr>
            <a:spLocks noGrp="1"/>
          </p:cNvSpPr>
          <p:nvPr/>
        </p:nvSpPr>
        <p:spPr>
          <a:xfrm>
            <a:off x="3800475" y="4552950"/>
            <a:ext cx="190500" cy="1524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60" name="圆角矩形 59"/>
          <p:cNvSpPr>
            <a:spLocks noGrp="1"/>
          </p:cNvSpPr>
          <p:nvPr/>
        </p:nvSpPr>
        <p:spPr>
          <a:xfrm>
            <a:off x="3990975" y="4391025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4057650" y="439102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人设JSON</a:t>
            </a:r>
          </a:p>
        </p:txBody>
      </p:sp>
      <p:sp>
        <p:nvSpPr>
          <p:cNvPr id="62" name="右箭头 61"/>
          <p:cNvSpPr>
            <a:spLocks noGrp="1"/>
          </p:cNvSpPr>
          <p:nvPr/>
        </p:nvSpPr>
        <p:spPr>
          <a:xfrm>
            <a:off x="5553075" y="4552950"/>
            <a:ext cx="190500" cy="1524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63" name="圆角矩形 62"/>
          <p:cNvSpPr>
            <a:spLocks noGrp="1"/>
          </p:cNvSpPr>
          <p:nvPr/>
        </p:nvSpPr>
        <p:spPr>
          <a:xfrm>
            <a:off x="5743575" y="4391025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5810250" y="439102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照片与音色</a:t>
            </a:r>
          </a:p>
        </p:txBody>
      </p:sp>
      <p:sp>
        <p:nvSpPr>
          <p:cNvPr id="65" name="右箭头 64"/>
          <p:cNvSpPr>
            <a:spLocks noGrp="1"/>
          </p:cNvSpPr>
          <p:nvPr/>
        </p:nvSpPr>
        <p:spPr>
          <a:xfrm>
            <a:off x="7305675" y="4552950"/>
            <a:ext cx="190500" cy="1524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66" name="圆角矩形 65"/>
          <p:cNvSpPr>
            <a:spLocks noGrp="1"/>
          </p:cNvSpPr>
          <p:nvPr/>
        </p:nvSpPr>
        <p:spPr>
          <a:xfrm>
            <a:off x="7496175" y="4391025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CFC5B3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7562850" y="439102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人像驱动</a:t>
            </a:r>
          </a:p>
        </p:txBody>
      </p:sp>
      <p:sp>
        <p:nvSpPr>
          <p:cNvPr id="68" name="右箭头 67"/>
          <p:cNvSpPr>
            <a:spLocks noGrp="1"/>
          </p:cNvSpPr>
          <p:nvPr/>
        </p:nvSpPr>
        <p:spPr>
          <a:xfrm>
            <a:off x="9058275" y="4552950"/>
            <a:ext cx="190500" cy="15240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69" name="圆角矩形 68"/>
          <p:cNvSpPr>
            <a:spLocks noGrp="1"/>
          </p:cNvSpPr>
          <p:nvPr/>
        </p:nvSpPr>
        <p:spPr>
          <a:xfrm>
            <a:off x="9248775" y="4391025"/>
            <a:ext cx="1504950" cy="47625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9525">
            <a:solidFill>
              <a:srgbClr val="B08D57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9315450" y="4391025"/>
            <a:ext cx="137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60" b="1">
                <a:solidFill>
                  <a:srgbClr val="B08D5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" b="1">
                <a:solidFill>
                  <a:srgbClr val="B08D5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B08D57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诵读成片</a:t>
            </a: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2238375" y="4959350"/>
            <a:ext cx="8620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0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人设由 DeepSeek 按五德得分生成 JSON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。形象用 qwen-image-edit-plus，语音用 CosyVoice，成片用 LivePortrait。视频在后台线程运行，页面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轮询进度。</a:t>
            </a: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819150" y="5638800"/>
            <a:ext cx="10534650" cy="523875"/>
          </a:xfrm>
          <a:prstGeom prst="roundRect">
            <a:avLst>
              <a:gd name="adj" fmla="val 9091"/>
            </a:avLst>
          </a:prstGeom>
          <a:solidFill>
            <a:srgbClr val="2F4A40"/>
          </a:solidFill>
          <a:ln w="9525">
            <a:solidFill>
              <a:srgbClr val="2F4A40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1000125" y="5695950"/>
            <a:ext cx="1143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9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9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共同入口</a:t>
            </a:r>
          </a:p>
        </p:txBody>
      </p:sp>
      <p:sp>
        <p:nvSpPr>
          <p:cNvPr id="75" name="直接连接符 74"/>
          <p:cNvSpPr>
            <a:spLocks noGrp="1"/>
          </p:cNvSpPr>
          <p:nvPr/>
        </p:nvSpPr>
        <p:spPr>
          <a:xfrm>
            <a:off x="2305050" y="5724525"/>
            <a:ext cx="0" cy="342900"/>
          </a:xfrm>
          <a:prstGeom prst="line">
            <a:avLst/>
          </a:prstGeom>
          <a:noFill/>
          <a:ln w="9525">
            <a:solidFill>
              <a:srgbClr val="DCCFB5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2571750" y="5695950"/>
            <a:ext cx="84296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065" b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5" b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三条链路都进入同一个FastAPI进程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，进程由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Uvicorn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拉起</a:t>
            </a: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aper-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DE"/>
          </a:solidFill>
          <a:ln w="0">
            <a:noFill/>
            <a:prstDash val="solid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276225" y="238125"/>
            <a:ext cx="314325" cy="314325"/>
          </a:xfrm>
          <a:prstGeom prst="roundRect">
            <a:avLst>
              <a:gd name="adj" fmla="val 9091"/>
            </a:avLst>
          </a:prstGeom>
          <a:solidFill>
            <a:srgbClr val="9C2F26"/>
          </a:solidFill>
          <a:ln w="9525">
            <a:solidFill>
              <a:srgbClr val="7F26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238125"/>
            <a:ext cx="3143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6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16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286875" y="523875"/>
            <a:ext cx="18097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0" b="1">
                <a:solidFill>
                  <a:srgbClr val="E7DDC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0" b="1">
                <a:solidFill>
                  <a:srgbClr val="E7DDC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7500" b="1" i="0" u="none" strike="noStrike" kern="1200" cap="none" spc="0" normalizeH="0" baseline="0" noProof="0">
                <a:ln>
                  <a:noFill/>
                </a:ln>
                <a:solidFill>
                  <a:srgbClr val="E7DDCB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守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428625"/>
            <a:ext cx="828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9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9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59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可靠性与内容边界</a:t>
            </a: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762000" y="1066800"/>
            <a:ext cx="10572750" cy="0"/>
          </a:xfrm>
          <a:prstGeom prst="line">
            <a:avLst/>
          </a:prstGeom>
          <a:noFill/>
          <a:ln w="9525">
            <a:solidFill>
              <a:srgbClr val="D8CDB8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952500"/>
            <a:ext cx="0" cy="5219700"/>
          </a:xfrm>
          <a:prstGeom prst="line">
            <a:avLst/>
          </a:prstGeom>
          <a:noFill/>
          <a:ln w="13335">
            <a:solidFill>
              <a:srgbClr val="D5C9B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810750" y="333375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350" b="1">
                <a:solidFill>
                  <a:srgbClr val="453D3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453D34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技术实现</a:t>
            </a: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1068050" y="266700"/>
            <a:ext cx="0" cy="352425"/>
          </a:xfrm>
          <a:prstGeom prst="line">
            <a:avLst/>
          </a:prstGeom>
          <a:noFill/>
          <a:ln w="14288">
            <a:solidFill>
              <a:srgbClr val="B08D57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11191875" y="238125"/>
            <a:ext cx="409575" cy="409575"/>
          </a:xfrm>
          <a:prstGeom prst="roundRect">
            <a:avLst>
              <a:gd name="adj" fmla="val 6977"/>
            </a:avLst>
          </a:prstGeom>
          <a:solidFill>
            <a:srgbClr val="9C2F26"/>
          </a:solidFill>
          <a:ln w="9525">
            <a:solidFill>
              <a:srgbClr val="7F261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191875" y="238125"/>
            <a:ext cx="4095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1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1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1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叁</a:t>
            </a: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638175" y="6381750"/>
            <a:ext cx="10887075" cy="0"/>
          </a:xfrm>
          <a:prstGeom prst="line">
            <a:avLst/>
          </a:prstGeom>
          <a:noFill/>
          <a:ln w="9525">
            <a:solidFill>
              <a:srgbClr val="D0C4A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8175" y="6457950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790" b="0">
                <a:solidFill>
                  <a:srgbClr val="8B81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0" b="0">
                <a:solidFill>
                  <a:srgbClr val="8B81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790" b="0" i="0" u="none" strike="noStrike" kern="1200" cap="none" spc="0" normalizeH="0" baseline="0" noProof="0" dirty="0" err="1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790" b="0" i="0" u="none" strike="noStrike" kern="1200" cap="none" spc="0" normalizeH="0" baseline="0" noProof="0" dirty="0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790" b="0" i="0" u="none" strike="noStrike" kern="1200" cap="none" spc="0" normalizeH="0" baseline="0" noProof="0" dirty="0" err="1">
                <a:ln>
                  <a:noFill/>
                </a:ln>
                <a:solidFill>
                  <a:srgbClr val="8B81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endParaRPr kumimoji="0" sz="790" b="0" i="0" u="none" strike="noStrike" kern="1200" cap="none" spc="0" normalizeH="0" baseline="0" noProof="0" dirty="0">
              <a:ln>
                <a:noFill/>
              </a:ln>
              <a:solidFill>
                <a:srgbClr val="8B817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11430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4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0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模型负责组织语言，代码负责约束来源、回退和隐私范围。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57250" y="1762125"/>
            <a:ext cx="1428750" cy="323850"/>
          </a:xfrm>
          <a:prstGeom prst="roundRect">
            <a:avLst>
              <a:gd name="adj" fmla="val 8824"/>
            </a:avLst>
          </a:prstGeom>
          <a:solidFill>
            <a:srgbClr val="9C2F26"/>
          </a:solidFill>
          <a:ln w="9525">
            <a:solidFill>
              <a:srgbClr val="9C2F2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14400" y="1762125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生成前检查</a:t>
            </a: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57250" y="2462530"/>
            <a:ext cx="4857750" cy="628650"/>
          </a:xfrm>
          <a:prstGeom prst="roundRect">
            <a:avLst>
              <a:gd name="adj" fmla="val 12121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971550" y="257683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81125" y="2548255"/>
            <a:ext cx="421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检索是否命中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81125" y="2824480"/>
            <a:ext cx="437134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没有材料时明确说明，不补写章句</a:t>
            </a:r>
          </a:p>
        </p:txBody>
      </p:sp>
      <p:sp>
        <p:nvSpPr>
          <p:cNvPr id="22" name="右箭头 21"/>
          <p:cNvSpPr>
            <a:spLocks noGrp="1"/>
          </p:cNvSpPr>
          <p:nvPr/>
        </p:nvSpPr>
        <p:spPr>
          <a:xfrm rot="5400000">
            <a:off x="3067050" y="3201670"/>
            <a:ext cx="342900" cy="13335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857250" y="3335020"/>
            <a:ext cx="4857750" cy="628650"/>
          </a:xfrm>
          <a:prstGeom prst="roundRect">
            <a:avLst>
              <a:gd name="adj" fmla="val 12121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71550" y="344932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381125" y="3420745"/>
            <a:ext cx="421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出处是否可核对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381125" y="3696970"/>
            <a:ext cx="437134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引用必须来自本次检索结果</a:t>
            </a: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 rot="5400000">
            <a:off x="3067050" y="4064000"/>
            <a:ext cx="342900" cy="13335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857250" y="4197350"/>
            <a:ext cx="4857750" cy="628650"/>
          </a:xfrm>
          <a:prstGeom prst="roundRect">
            <a:avLst>
              <a:gd name="adj" fmla="val 12121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971550" y="4311650"/>
            <a:ext cx="323850" cy="323850"/>
          </a:xfrm>
          <a:prstGeom prst="ellipse">
            <a:avLst/>
          </a:prstGeom>
          <a:solidFill>
            <a:srgbClr val="2F4A40"/>
          </a:solidFill>
          <a:ln w="0">
            <a:solidFill>
              <a:srgbClr val="2F4A40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81125" y="4283075"/>
            <a:ext cx="421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材料层级是否清楚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81125" y="4559300"/>
            <a:ext cx="437134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原文、注疏、史传与今人推演分别表达</a:t>
            </a:r>
          </a:p>
        </p:txBody>
      </p:sp>
      <p:sp>
        <p:nvSpPr>
          <p:cNvPr id="32" name="右箭头 31"/>
          <p:cNvSpPr>
            <a:spLocks noGrp="1"/>
          </p:cNvSpPr>
          <p:nvPr/>
        </p:nvSpPr>
        <p:spPr>
          <a:xfrm rot="5400000">
            <a:off x="3067050" y="4936490"/>
            <a:ext cx="342900" cy="133350"/>
          </a:xfrm>
          <a:prstGeom prst="rightArrow">
            <a:avLst/>
          </a:prstGeom>
          <a:solidFill>
            <a:srgbClr val="B08D57"/>
          </a:solidFill>
          <a:ln w="3810">
            <a:solidFill>
              <a:srgbClr val="B08D57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857250" y="5069840"/>
            <a:ext cx="4857750" cy="628650"/>
          </a:xfrm>
          <a:prstGeom prst="roundRect">
            <a:avLst>
              <a:gd name="adj" fmla="val 12121"/>
            </a:avLst>
          </a:prstGeom>
          <a:solidFill>
            <a:srgbClr val="FAF7F0"/>
          </a:solidFill>
          <a:ln w="9525">
            <a:solidFill>
              <a:srgbClr val="C9BFAE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971550" y="5184140"/>
            <a:ext cx="323850" cy="323850"/>
          </a:xfrm>
          <a:prstGeom prst="ellipse">
            <a:avLst/>
          </a:prstGeom>
          <a:solidFill>
            <a:srgbClr val="9C2F26"/>
          </a:solidFill>
          <a:ln w="0">
            <a:solidFill>
              <a:srgbClr val="9C2F26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381125" y="5155565"/>
            <a:ext cx="421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表达是否越界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381125" y="5431790"/>
            <a:ext cx="437134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85" b="0">
                <a:solidFill>
                  <a:srgbClr val="6E67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6E675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修心提供文化视角，不代替心理治疗</a:t>
            </a: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248400" y="1762125"/>
            <a:ext cx="1428750" cy="323850"/>
          </a:xfrm>
          <a:prstGeom prst="roundRect">
            <a:avLst>
              <a:gd name="adj" fmla="val 8824"/>
            </a:avLst>
          </a:prstGeom>
          <a:solidFill>
            <a:srgbClr val="2F4A40"/>
          </a:solidFill>
          <a:ln w="9525">
            <a:solidFill>
              <a:srgbClr val="2F4A4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305550" y="1762125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五条底线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248400" y="2401570"/>
            <a:ext cx="5095875" cy="495300"/>
          </a:xfrm>
          <a:prstGeom prst="roundRect">
            <a:avLst>
              <a:gd name="adj" fmla="val 9615"/>
            </a:avLst>
          </a:prstGeom>
          <a:solidFill>
            <a:srgbClr val="FCF9F3"/>
          </a:solidFill>
          <a:ln w="9525">
            <a:solidFill>
              <a:srgbClr val="D7CCBA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419850" y="2458720"/>
            <a:ext cx="1123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40" b="1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0" b="1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准确性</a:t>
            </a: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7686675" y="2487295"/>
            <a:ext cx="0" cy="323850"/>
          </a:xfrm>
          <a:prstGeom prst="line">
            <a:avLst/>
          </a:prstGeom>
          <a:noFill/>
          <a:ln w="9525">
            <a:solidFill>
              <a:srgbClr val="DED3B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915275" y="2458720"/>
            <a:ext cx="330327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3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资料不足时直接说明</a:t>
            </a: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248400" y="3181985"/>
            <a:ext cx="5095875" cy="495300"/>
          </a:xfrm>
          <a:prstGeom prst="roundRect">
            <a:avLst>
              <a:gd name="adj" fmla="val 9615"/>
            </a:avLst>
          </a:prstGeom>
          <a:solidFill>
            <a:srgbClr val="F7F0E4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419850" y="3239135"/>
            <a:ext cx="1123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4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分层引用</a:t>
            </a:r>
          </a:p>
        </p:txBody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7686675" y="3267710"/>
            <a:ext cx="0" cy="323850"/>
          </a:xfrm>
          <a:prstGeom prst="line">
            <a:avLst/>
          </a:prstGeom>
          <a:noFill/>
          <a:ln w="9525">
            <a:solidFill>
              <a:srgbClr val="DED3BF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915275" y="3239135"/>
            <a:ext cx="330327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3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后世阐释不写成孔子原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6248400" y="3972560"/>
            <a:ext cx="5095875" cy="495300"/>
          </a:xfrm>
          <a:prstGeom prst="roundRect">
            <a:avLst>
              <a:gd name="adj" fmla="val 9615"/>
            </a:avLst>
          </a:prstGeom>
          <a:solidFill>
            <a:srgbClr val="FCF9F3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419850" y="4029710"/>
            <a:ext cx="1123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4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角色边界</a:t>
            </a:r>
          </a:p>
        </p:txBody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7686675" y="4058285"/>
            <a:ext cx="0" cy="323850"/>
          </a:xfrm>
          <a:prstGeom prst="line">
            <a:avLst/>
          </a:prstGeom>
          <a:noFill/>
          <a:ln w="9525">
            <a:solidFill>
              <a:srgbClr val="DED3BF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915275" y="4029710"/>
            <a:ext cx="330327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3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问答助手与孔门人物分开</a:t>
            </a: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6248400" y="4752975"/>
            <a:ext cx="5095875" cy="495300"/>
          </a:xfrm>
          <a:prstGeom prst="roundRect">
            <a:avLst>
              <a:gd name="adj" fmla="val 9615"/>
            </a:avLst>
          </a:prstGeom>
          <a:solidFill>
            <a:srgbClr val="F7F0E4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419850" y="4810125"/>
            <a:ext cx="1123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4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人的面孔</a:t>
            </a:r>
          </a:p>
        </p:txBody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7686675" y="4838700"/>
            <a:ext cx="0" cy="323850"/>
          </a:xfrm>
          <a:prstGeom prst="line">
            <a:avLst/>
          </a:prstGeom>
          <a:noFill/>
          <a:ln w="9525">
            <a:solidFill>
              <a:srgbClr val="DED3B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915275" y="4810125"/>
            <a:ext cx="330327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3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古风重绘尽量保留五官特征</a:t>
            </a: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6248400" y="5543550"/>
            <a:ext cx="5095875" cy="495300"/>
          </a:xfrm>
          <a:prstGeom prst="roundRect">
            <a:avLst>
              <a:gd name="adj" fmla="val 9615"/>
            </a:avLst>
          </a:prstGeom>
          <a:solidFill>
            <a:srgbClr val="FCF9F3"/>
          </a:solidFill>
          <a:ln w="9525">
            <a:solidFill>
              <a:srgbClr val="D7CCBA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419850" y="5600700"/>
            <a:ext cx="1123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4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40" b="1">
                <a:solidFill>
                  <a:srgbClr val="2F4A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密钥与隐私</a:t>
            </a:r>
          </a:p>
        </p:txBody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7686675" y="5629275"/>
            <a:ext cx="0" cy="323850"/>
          </a:xfrm>
          <a:prstGeom prst="line">
            <a:avLst/>
          </a:prstGeom>
          <a:noFill/>
          <a:ln w="9525">
            <a:solidFill>
              <a:srgbClr val="DED3BF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7915275" y="5600700"/>
            <a:ext cx="330327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3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0" b="0">
                <a:solidFill>
                  <a:srgbClr val="1B19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密钥只放环境文件，媒体限制格式和体积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932688"/>
            <a:ext cx="1554480" cy="237744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0" b="0" i="0" u="none" strike="noStrike" kern="1200" cap="none" spc="0" normalizeH="0" baseline="0" noProof="0">
                <a:ln>
                  <a:noFill/>
                </a:ln>
                <a:solidFill>
                  <a:srgbClr val="DED2B8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33856" y="1810512"/>
            <a:ext cx="0" cy="3127248"/>
          </a:xfrm>
          <a:prstGeom prst="line">
            <a:avLst/>
          </a:prstGeom>
          <a:ln w="3175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08176" y="1810512"/>
            <a:ext cx="1280160" cy="1280160"/>
          </a:xfrm>
          <a:prstGeom prst="roundRect">
            <a:avLst>
              <a:gd name="adj" fmla="val 6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82880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08D5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FOUR · 第四章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103120"/>
            <a:ext cx="7680960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边界与演进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4752" y="3529584"/>
            <a:ext cx="996696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44752" y="3675887"/>
            <a:ext cx="8595360" cy="357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5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从当前短板出发，先补齐体验与评测，再逐步扩展部署和典籍范围。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4625" y="4608830"/>
            <a:ext cx="2082165" cy="47498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现有</a:t>
            </a:r>
            <a:r>
              <a:rPr kumimoji="0" lang="zh-CN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边界</a:t>
            </a:r>
            <a:r>
              <a:rPr kumimoji="0" lang="en-US" altLang="zh-CN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&amp; </a:t>
            </a:r>
            <a:r>
              <a:rPr kumimoji="0" lang="zh-CN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演进</a:t>
            </a: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计划</a:t>
            </a:r>
            <a:endParaRPr kumimoji="0" lang="en-US" sz="1250" b="1" i="0" u="none" strike="noStrike" kern="1200" cap="none" spc="0" normalizeH="0" baseline="0" noProof="0">
              <a:ln>
                <a:noFill/>
              </a:ln>
              <a:solidFill>
                <a:srgbClr val="2F4A40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nector 2"/>
          <p:cNvSpPr>
            <a:spLocks noGrp="1"/>
          </p:cNvSpPr>
          <p:nvPr/>
        </p:nv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" name="Rectangle 3"/>
          <p:cNvSpPr>
            <a:spLocks noGrp="1"/>
          </p:cNvSpPr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肆</a:t>
            </a:r>
          </a:p>
        </p:txBody>
      </p:sp>
      <p:sp>
        <p:nvSpPr>
          <p:cNvPr id="6" name="Connector 5"/>
          <p:cNvSpPr>
            <a:spLocks noGrp="1"/>
          </p:cNvSpPr>
          <p:nvPr/>
        </p:nv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/>
          <p:cNvSpPr>
            <a:spLocks noGrp="1"/>
          </p:cNvSpPr>
          <p:nvPr/>
        </p:nvSpPr>
        <p:spPr>
          <a:xfrm>
            <a:off x="7571231" y="329184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边界与演进</a:t>
            </a: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005840" y="475488"/>
            <a:ext cx="8778240" cy="51252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defPPr algn="l">
              <a:defRPr sz="285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边界与演进</a:t>
            </a:r>
            <a:endParaRPr kumimoji="0" sz="2600" b="1" i="0" u="none" strike="noStrike" kern="1200" cap="none" spc="0" normalizeH="0" baseline="0" noProof="0">
              <a:ln>
                <a:noFill/>
              </a:ln>
              <a:solidFill>
                <a:srgbClr val="1B1916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1" name="Connector 10"/>
          <p:cNvSpPr>
            <a:spLocks noGrp="1"/>
          </p:cNvSpPr>
          <p:nvPr/>
        </p:nv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圆角矩形 11"/>
          <p:cNvSpPr>
            <a:spLocks noGrp="1"/>
          </p:cNvSpPr>
          <p:nvPr/>
        </p:nvSpPr>
        <p:spPr>
          <a:xfrm>
            <a:off x="868680" y="1381125"/>
            <a:ext cx="4352925" cy="4238625"/>
          </a:xfrm>
          <a:prstGeom prst="roundRect">
            <a:avLst>
              <a:gd name="adj" fmla="val 1798"/>
            </a:avLst>
          </a:prstGeom>
          <a:solidFill>
            <a:srgbClr val="FFFDF8"/>
          </a:solidFill>
          <a:ln w="11430">
            <a:solidFill>
              <a:srgbClr val="D8CCB7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429250" y="1381125"/>
            <a:ext cx="5953125" cy="4238625"/>
          </a:xfrm>
          <a:prstGeom prst="roundRect">
            <a:avLst>
              <a:gd name="adj" fmla="val 1798"/>
            </a:avLst>
          </a:prstGeom>
          <a:solidFill>
            <a:srgbClr val="FFFDF8"/>
          </a:solidFill>
          <a:ln w="11430">
            <a:solidFill>
              <a:srgbClr val="D8CCB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68680" y="1552575"/>
            <a:ext cx="57150" cy="533400"/>
          </a:xfrm>
          <a:prstGeom prst="rect">
            <a:avLst/>
          </a:prstGeom>
          <a:solidFill>
            <a:srgbClr val="A52C22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429250" y="1552575"/>
            <a:ext cx="57150" cy="533400"/>
          </a:xfrm>
          <a:prstGeom prst="rect">
            <a:avLst/>
          </a:prstGeom>
          <a:solidFill>
            <a:srgbClr val="2F5A4C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04900" y="1581150"/>
            <a:ext cx="3762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9"/>
          </a:bodyPr>
          <a:lstStyle>
            <a:defPPr algn="l">
              <a:defRPr sz="2175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当前边界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76900" y="158115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09"/>
          </a:bodyPr>
          <a:lstStyle>
            <a:defPPr algn="l">
              <a:defRPr sz="2175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演进路径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43000" y="2143125"/>
            <a:ext cx="1200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85"/>
          </a:bodyPr>
          <a:lstStyle>
            <a:defPPr algn="l">
              <a:defRPr sz="1725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成本与依赖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381250" y="2162810"/>
            <a:ext cx="2537460" cy="15767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500" lnSpcReduction="10000"/>
          </a:bodyPr>
          <a:lstStyle>
            <a:defPPr algn="l">
              <a:defRPr sz="1575" b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85750" marR="0" lvl="0" indent="-285750" algn="just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75" b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575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围坐要依次生成多位先贤，耗时与调用次数明显高于单次问答；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75" b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575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风骨依赖外网与额度，成片常需数分钟，人脸检测对照片质量敏感。</a:t>
            </a:r>
          </a:p>
          <a:p>
            <a:pPr marL="0" marR="0" lvl="0" indent="0" algn="just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kumimoji="0" lang="zh-CN" altLang="en-US" sz="1575" b="0" i="0" u="none" strike="noStrike" kern="1200" cap="none" spc="0" normalizeH="0" baseline="0" noProof="0">
              <a:ln>
                <a:noFill/>
              </a:ln>
              <a:solidFill>
                <a:srgbClr val="453D3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" y="3862070"/>
            <a:ext cx="3819525" cy="9525"/>
          </a:xfrm>
          <a:prstGeom prst="rect">
            <a:avLst/>
          </a:prstGeom>
          <a:solidFill>
            <a:srgbClr val="E6DDC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143000" y="3957955"/>
            <a:ext cx="1200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85"/>
          </a:bodyPr>
          <a:lstStyle>
            <a:defPPr algn="l">
              <a:defRPr sz="1725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工程细节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381250" y="3966845"/>
            <a:ext cx="2552700" cy="150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l">
              <a:defRPr sz="1575" b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285750" marR="0" lvl="0" indent="-285750" algn="just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75" b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注疏对齐是启发式的，遇到异文或极端版式可能漏掉章号。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75" b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服务没有热重载，服务更新仍需手动重启</a:t>
            </a: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5715000" y="2181225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A52C22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715000" y="2181225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近期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705600" y="2143125"/>
            <a:ext cx="4191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19"/>
          </a:bodyPr>
          <a:lstStyle>
            <a:defPPr algn="l">
              <a:defRPr sz="18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补齐体验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715760" y="2473325"/>
            <a:ext cx="4238625" cy="5676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40" b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ea"/>
              </a:rPr>
              <a:t>会话与收藏落库，登录后跨设备同步。</a:t>
            </a:r>
            <a:endParaRPr kumimoji="0" sz="1540" b="0" i="0" u="none" strike="noStrike" kern="1200" cap="none" spc="0" normalizeH="0" baseline="0" noProof="0">
              <a:ln>
                <a:noFill/>
              </a:ln>
              <a:solidFill>
                <a:srgbClr val="453D3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ea"/>
              </a:rPr>
              <a:t>围坐改成一次输出多人发言，减少等待。</a:t>
            </a:r>
            <a:endParaRPr kumimoji="0" sz="1540" b="0" i="0" u="none" strike="noStrike" kern="1200" cap="none" spc="0" normalizeH="0" baseline="0" noProof="0">
              <a:ln>
                <a:noFill/>
              </a:ln>
              <a:solidFill>
                <a:srgbClr val="453D3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695950" y="3136900"/>
            <a:ext cx="5410200" cy="9525"/>
          </a:xfrm>
          <a:prstGeom prst="rect">
            <a:avLst/>
          </a:prstGeom>
          <a:solidFill>
            <a:srgbClr val="E6DDCF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5715000" y="3339465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2F5A4C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715000" y="3339465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中期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705600" y="3301365"/>
            <a:ext cx="4191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19"/>
          </a:bodyPr>
          <a:lstStyle>
            <a:defPPr algn="l">
              <a:defRPr sz="18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建立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校对</a:t>
            </a: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能力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705600" y="3695065"/>
            <a:ext cx="4238625" cy="5060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>
            <a:defPPr algn="l">
              <a:defRPr sz="1540" b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ea"/>
              </a:rPr>
              <a:t>注疏对齐做成半自动校对工具，提高章号覆盖率。</a:t>
            </a:r>
            <a:endParaRPr kumimoji="0" sz="1540" b="0" i="0" u="none" strike="noStrike" kern="1200" cap="none" spc="0" normalizeH="0" baseline="0" noProof="0">
              <a:ln>
                <a:noFill/>
              </a:ln>
              <a:solidFill>
                <a:srgbClr val="453D3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695950" y="4132580"/>
            <a:ext cx="5410200" cy="9525"/>
          </a:xfrm>
          <a:prstGeom prst="rect">
            <a:avLst/>
          </a:prstGeom>
          <a:solidFill>
            <a:srgbClr val="E6DDCF"/>
          </a:solidFill>
          <a:ln w="0">
            <a:noFill/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5715000" y="4335145"/>
            <a:ext cx="781050" cy="361950"/>
          </a:xfrm>
          <a:prstGeom prst="roundRect">
            <a:avLst>
              <a:gd name="adj" fmla="val 21053"/>
            </a:avLst>
          </a:prstGeom>
          <a:solidFill>
            <a:srgbClr val="B58A43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715000" y="4335145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远期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705600" y="4297045"/>
            <a:ext cx="4191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19"/>
          </a:bodyPr>
          <a:lstStyle>
            <a:defPPr algn="l">
              <a:defRPr sz="18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拓展传播场景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705600" y="4639945"/>
            <a:ext cx="4238625" cy="781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40" b="0">
                <a:solidFill>
                  <a:srgbClr val="45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5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适配移动端，</a:t>
            </a:r>
            <a:r>
              <a:rPr kumimoji="0" sz="15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ea"/>
              </a:rPr>
              <a:t>展陈场景做「大屏先贤 + 手机创作」双端；</a:t>
            </a:r>
            <a:r>
              <a:rPr kumimoji="0" sz="15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后续可扩展《孟子》、《大学》等相关论著</a:t>
            </a:r>
            <a:r>
              <a:rPr kumimoji="0" lang="zh-CN" altLang="en-US" sz="15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868680" y="5772150"/>
            <a:ext cx="10515600" cy="409575"/>
          </a:xfrm>
          <a:prstGeom prst="roundRect">
            <a:avLst>
              <a:gd name="adj" fmla="val 18605"/>
            </a:avLst>
          </a:prstGeom>
          <a:solidFill>
            <a:srgbClr val="294F43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104900" y="5772150"/>
            <a:ext cx="1004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演绎有度，原典为根；传述有据，释义守源；阐发新意，融通古</a:t>
            </a: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sym typeface="+mn-ea"/>
              </a:rPr>
              <a:t>今。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solidFill>
                <a:srgbClr val="FFF8EE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932688"/>
            <a:ext cx="1554480" cy="237744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0" b="0" i="0" u="none" strike="noStrike" kern="1200" cap="none" spc="0" normalizeH="0" baseline="0" noProof="0">
                <a:ln>
                  <a:noFill/>
                </a:ln>
                <a:solidFill>
                  <a:srgbClr val="DED2B8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33856" y="1810512"/>
            <a:ext cx="0" cy="3127248"/>
          </a:xfrm>
          <a:prstGeom prst="line">
            <a:avLst/>
          </a:prstGeom>
          <a:ln w="3175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08176" y="1810512"/>
            <a:ext cx="1280160" cy="1280160"/>
          </a:xfrm>
          <a:prstGeom prst="roundRect">
            <a:avLst>
              <a:gd name="adj" fmla="val 6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182880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08D5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FIVE · 第五章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103120"/>
            <a:ext cx="7680960" cy="839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测评与</a:t>
            </a: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演示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4752" y="3529584"/>
            <a:ext cx="996696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44752" y="3675887"/>
            <a:ext cx="8595360" cy="357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5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用可追溯的评分检验回答质量，再用完整演示呈现学习闭环。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4752" y="4626864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系统测评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626864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现场演示</a:t>
            </a:r>
          </a:p>
        </p:txBody>
      </p:sp>
      <p:sp>
        <p:nvSpPr>
          <p:cNvPr id="16" name="Rounded Rectangle 13"/>
          <p:cNvSpPr/>
          <p:nvPr/>
        </p:nvSpPr>
        <p:spPr>
          <a:xfrm>
            <a:off x="4407662" y="4634484"/>
            <a:ext cx="1280160" cy="457200"/>
          </a:xfrm>
          <a:prstGeom prst="roundRect">
            <a:avLst>
              <a:gd name="adj" fmla="val 28000"/>
            </a:avLst>
          </a:prstGeom>
          <a:solidFill>
            <a:srgbClr val="F6F0E2"/>
          </a:solidFill>
          <a:ln w="9525">
            <a:solidFill>
              <a:srgbClr val="E0D4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2860" rIns="45720" bIns="228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2F4A4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任务分工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435864"/>
            <a:ext cx="3310128" cy="289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测评与演示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51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系统测评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>
            <a:spLocks noGrp="1"/>
          </p:cNvSpPr>
          <p:nvPr/>
        </p:nvSpPr>
        <p:spPr>
          <a:xfrm>
            <a:off x="767080" y="6509512"/>
            <a:ext cx="54864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50" b="0" i="0">
                <a:solidFill>
                  <a:srgbClr val="A89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0" i="0">
                <a:solidFill>
                  <a:srgbClr val="A89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1132840" y="1260856"/>
            <a:ext cx="10515600" cy="0"/>
          </a:xfrm>
          <a:prstGeom prst="line">
            <a:avLst/>
          </a:prstGeom>
          <a:noFill/>
          <a:ln w="12668">
            <a:solidFill>
              <a:srgbClr val="E0D4BB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868680" y="147574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评测方式</a:t>
            </a:r>
          </a:p>
        </p:txBody>
      </p:sp>
      <p:sp>
        <p:nvSpPr>
          <p:cNvPr id="60" name="圆角矩形 5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8680" y="1856740"/>
            <a:ext cx="6506210" cy="1305560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9525">
            <a:solidFill>
              <a:srgbClr val="D8CCB7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868680" y="330771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评分标准</a:t>
            </a:r>
          </a:p>
        </p:txBody>
      </p:sp>
      <p:graphicFrame>
        <p:nvGraphicFramePr>
          <p:cNvPr id="73" name="表格 72"/>
          <p:cNvGraphicFramePr/>
          <p:nvPr/>
        </p:nvGraphicFramePr>
        <p:xfrm>
          <a:off x="868680" y="3688715"/>
          <a:ext cx="6534150" cy="2487295"/>
        </p:xfrm>
        <a:graphic>
          <a:graphicData uri="http://schemas.openxmlformats.org/drawingml/2006/table">
            <a:tbl>
              <a:tblPr/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8EE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评价维度</a:t>
                      </a:r>
                    </a:p>
                  </a:txBody>
                  <a:tcPr marL="57150" marR="57150" marT="47625" marB="47625" anchor="ctr">
                    <a:lnL w="9525">
                      <a:solidFill>
                        <a:srgbClr val="D8CCB7"/>
                      </a:solidFill>
                      <a:prstDash val="soli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>
                      <a:solidFill>
                        <a:srgbClr val="D8CCB7"/>
                      </a:solidFill>
                      <a:prstDash val="soli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2F4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8EE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 分</a:t>
                      </a: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>
                      <a:solidFill>
                        <a:srgbClr val="D8CCB7"/>
                      </a:solidFill>
                      <a:prstDash val="soli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2F4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8EE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 分</a:t>
                      </a: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>
                      <a:solidFill>
                        <a:srgbClr val="D8CCB7"/>
                      </a:solidFill>
                      <a:prstDash val="soli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2F4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8EE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 分</a:t>
                      </a:r>
                    </a:p>
                  </a:txBody>
                  <a:tcPr marL="57150" marR="57150" marT="47625" marB="47625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>
                      <a:solidFill>
                        <a:srgbClr val="D8CCB7"/>
                      </a:solidFill>
                      <a:prstDash val="soli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2F4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94F43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检索匹配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D8CCB7"/>
                      </a:solidFill>
                      <a:prstDash val="soli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证据直接支撑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部分相关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无相关证据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94F43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出处可靠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D8CCB7"/>
                      </a:solidFill>
                      <a:prstDash val="soli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0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篇章可准确核对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0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出处较笼统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0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无法核对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0E7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94F43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分层表达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D8CCB7"/>
                      </a:solidFill>
                      <a:prstDash val="soli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原文、注释、推断清楚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偶有混淆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层级混合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94F43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回答质量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D8CCB7"/>
                      </a:solidFill>
                      <a:prstDash val="soli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0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切题且完整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0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部分回答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0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偏题或缺漏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0E7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94F43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表达与角色</a:t>
                      </a:r>
                    </a:p>
                  </a:txBody>
                  <a:tcPr marL="47625" marR="47625" marT="38100" marB="38100" anchor="ctr">
                    <a:lnL w="9525">
                      <a:solidFill>
                        <a:srgbClr val="D8CCB7"/>
                      </a:solidFill>
                      <a:prstDash val="soli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风格自然且一致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较通用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53D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表达失当</a:t>
                      </a:r>
                    </a:p>
                  </a:txBody>
                  <a:tcPr marL="47625" marR="47625" marT="38100" marB="38100" anchor="ctr">
                    <a:lnL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CCB7"/>
                      </a:solidFill>
                      <a:prstDash val="solid"/>
                    </a:lnR>
                    <a:lnT w="9525" cap="flat" cmpd="sng" algn="ctr">
                      <a:solidFill>
                        <a:srgbClr val="D8CC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CCB7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4" name="矩形 73"/>
          <p:cNvSpPr>
            <a:spLocks noGrp="1"/>
          </p:cNvSpPr>
          <p:nvPr/>
        </p:nvSpPr>
        <p:spPr>
          <a:xfrm>
            <a:off x="7810500" y="15621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1" i="0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均分（5分制）</a:t>
            </a:r>
          </a:p>
        </p:txBody>
      </p:sp>
      <p:graphicFrame>
        <p:nvGraphicFramePr>
          <p:cNvPr id="75" name="Chart"/>
          <p:cNvGraphicFramePr/>
          <p:nvPr/>
        </p:nvGraphicFramePr>
        <p:xfrm>
          <a:off x="7667625" y="2017395"/>
          <a:ext cx="3714750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6" name="矩形 75"/>
          <p:cNvSpPr>
            <a:spLocks noGrp="1"/>
          </p:cNvSpPr>
          <p:nvPr/>
        </p:nvSpPr>
        <p:spPr>
          <a:xfrm>
            <a:off x="7810500" y="5577840"/>
            <a:ext cx="3429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165" b="1" i="0">
                <a:solidFill>
                  <a:srgbClr val="7C2B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5" b="1" i="0">
                <a:solidFill>
                  <a:srgbClr val="7C2B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7C2B2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 4.7 ｜ 出处 4.5 ｜ 分层 4.2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5" b="1" i="0">
                <a:solidFill>
                  <a:srgbClr val="7C2B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7C2B2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 4.2 ｜ 表达 4.1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1009015" y="1929765"/>
            <a:ext cx="62179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采用人工与大模型评测相结合的方式：人工评测由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名评测人员独立打分；大模型评测调用</a:t>
            </a:r>
            <a:r>
              <a:rPr kumimoji="0" lang="zh-CN" altLang="en-US" sz="1800" b="0" i="0" u="sng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ChatGPT、DeepSeek、Gemini、豆包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四款模型分别评分。两类评分按1:1权重加权计算综合得分，所有指标均采用5分制。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53D34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53D34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435864"/>
            <a:ext cx="3310128" cy="289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测评与演示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51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现场演示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1387" b="23294"/>
          <a:stretch>
            <a:fillRect/>
          </a:stretch>
        </p:blipFill>
        <p:spPr>
          <a:xfrm>
            <a:off x="1009650" y="1314450"/>
            <a:ext cx="10361295" cy="44475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5840" y="585660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575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浏览器打开：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hlinkClick r:id="rId4"/>
              </a:rPr>
              <a:t>http://127.0.0.1:8787/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384048"/>
            <a:ext cx="329184" cy="329184"/>
          </a:xfrm>
          <a:prstGeom prst="rect">
            <a:avLst/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329184"/>
            <a:ext cx="502920" cy="502920"/>
          </a:xfrm>
          <a:prstGeom prst="roundRect">
            <a:avLst>
              <a:gd name="adj" fmla="val 7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06640" y="402336"/>
            <a:ext cx="0" cy="365760"/>
          </a:xfrm>
          <a:prstGeom prst="line">
            <a:avLst/>
          </a:prstGeom>
          <a:ln w="15875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71231" y="435864"/>
            <a:ext cx="3310128" cy="289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50" b="1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测评与演示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"/>
            <a:ext cx="8778240" cy="51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任务分工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1133856"/>
            <a:ext cx="10515600" cy="0"/>
          </a:xfrm>
          <a:prstGeom prst="line">
            <a:avLst/>
          </a:prstGeom>
          <a:ln w="12700">
            <a:solidFill>
              <a:srgbClr val="E0D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圆角矩形 42"/>
          <p:cNvSpPr>
            <a:spLocks noGrp="1"/>
          </p:cNvSpPr>
          <p:nvPr/>
        </p:nvSpPr>
        <p:spPr>
          <a:xfrm>
            <a:off x="868680" y="1368425"/>
            <a:ext cx="5067300" cy="3333750"/>
          </a:xfrm>
          <a:prstGeom prst="roundRect">
            <a:avLst>
              <a:gd name="adj" fmla="val 2286"/>
            </a:avLst>
          </a:prstGeom>
          <a:solidFill>
            <a:srgbClr val="FFFDF8"/>
          </a:solidFill>
          <a:ln w="11906">
            <a:solidFill>
              <a:srgbClr val="C8B89A"/>
            </a:solidFill>
            <a:prstDash val="solid"/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868680" y="1368425"/>
            <a:ext cx="5067300" cy="590550"/>
          </a:xfrm>
          <a:prstGeom prst="roundRect">
            <a:avLst>
              <a:gd name="adj" fmla="val 12903"/>
            </a:avLst>
          </a:prstGeom>
          <a:solidFill>
            <a:srgbClr val="2F5A4C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97280" y="14922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甲 · 从书到回答</a:t>
            </a: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1078230" y="2149475"/>
            <a:ext cx="419100" cy="419100"/>
          </a:xfrm>
          <a:prstGeom prst="ellipse">
            <a:avLst/>
          </a:prstGeom>
          <a:solidFill>
            <a:srgbClr val="2F5A4C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壹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638935" y="206692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 i="0">
                <a:solidFill>
                  <a:srgbClr val="2F5A4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 i="0">
                <a:solidFill>
                  <a:srgbClr val="2F5A4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F5A4C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知识底座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649730" y="2364740"/>
            <a:ext cx="4038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just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整理切块，使用 bge-m3 向量化并写入 pgvector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</a:p>
        </p:txBody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1078230" y="2911475"/>
            <a:ext cx="4648200" cy="0"/>
          </a:xfrm>
          <a:prstGeom prst="line">
            <a:avLst/>
          </a:prstGeom>
          <a:noFill/>
          <a:ln w="9525">
            <a:solidFill>
              <a:srgbClr val="E1D5BF"/>
            </a:solidFill>
            <a:prstDash val="solid"/>
          </a:ln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1078230" y="3063875"/>
            <a:ext cx="419100" cy="419100"/>
          </a:xfrm>
          <a:prstGeom prst="ellipse">
            <a:avLst/>
          </a:prstGeom>
          <a:solidFill>
            <a:srgbClr val="2F5A4C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贰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638935" y="30353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>
            <a:defPPr algn="l">
              <a:defRPr sz="1500" b="1" i="0">
                <a:solidFill>
                  <a:srgbClr val="2F5A4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 i="0">
                <a:solidFill>
                  <a:srgbClr val="2F5A4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F5A4C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检索调度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2F5A4C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649730" y="3311525"/>
            <a:ext cx="4038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just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混合检索连接接谈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与问答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1078230" y="3825875"/>
            <a:ext cx="4648200" cy="0"/>
          </a:xfrm>
          <a:prstGeom prst="line">
            <a:avLst/>
          </a:prstGeom>
          <a:noFill/>
          <a:ln w="9525">
            <a:solidFill>
              <a:srgbClr val="E1D5BF"/>
            </a:solidFill>
            <a:prstDash val="solid"/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1078230" y="3978275"/>
            <a:ext cx="419100" cy="419100"/>
          </a:xfrm>
          <a:prstGeom prst="ellipse">
            <a:avLst/>
          </a:prstGeom>
          <a:solidFill>
            <a:srgbClr val="2F5A4C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叁</a:t>
            </a: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638935" y="39497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>
            <a:defPPr algn="l">
              <a:defRPr sz="1500" b="1" i="0">
                <a:solidFill>
                  <a:srgbClr val="2F5A4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 i="0">
                <a:solidFill>
                  <a:srgbClr val="2F5A4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F5A4C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回答边界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2F5A4C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649730" y="4225925"/>
            <a:ext cx="4038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just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覆盖治学、修心、修身，校验出处和内容边界</a:t>
            </a: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6257925" y="1368425"/>
            <a:ext cx="5067300" cy="3333750"/>
          </a:xfrm>
          <a:prstGeom prst="roundRect">
            <a:avLst>
              <a:gd name="adj" fmla="val 2286"/>
            </a:avLst>
          </a:prstGeom>
          <a:solidFill>
            <a:srgbClr val="FFFDF8"/>
          </a:solidFill>
          <a:ln w="11906">
            <a:solidFill>
              <a:srgbClr val="C8B89A"/>
            </a:solidFill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6257925" y="1368425"/>
            <a:ext cx="5067300" cy="590550"/>
          </a:xfrm>
          <a:prstGeom prst="roundRect">
            <a:avLst>
              <a:gd name="adj" fmla="val 12903"/>
            </a:avLst>
          </a:prstGeom>
          <a:solidFill>
            <a:srgbClr val="9C2F26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6486525" y="1492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乙 · 从页面到</a:t>
            </a:r>
            <a:r>
              <a:rPr kumimoji="0" lang="zh-CN" altLang="en-US" sz="18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</a:t>
            </a:r>
          </a:p>
        </p:txBody>
      </p:sp>
      <p:sp>
        <p:nvSpPr>
          <p:cNvPr id="62" name="椭圆 61"/>
          <p:cNvSpPr>
            <a:spLocks noGrp="1"/>
          </p:cNvSpPr>
          <p:nvPr/>
        </p:nvSpPr>
        <p:spPr>
          <a:xfrm>
            <a:off x="6467475" y="2149475"/>
            <a:ext cx="419100" cy="419100"/>
          </a:xfrm>
          <a:prstGeom prst="ellipse">
            <a:avLst/>
          </a:prstGeom>
          <a:solidFill>
            <a:srgbClr val="9C2F26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壹</a:t>
            </a: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038975" y="211010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 i="0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 i="0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阅读入口</a:t>
            </a: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7038975" y="2429510"/>
            <a:ext cx="4038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just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书库目录连接本地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Markdown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，支持竖排阅读</a:t>
            </a:r>
          </a:p>
        </p:txBody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6467475" y="2911475"/>
            <a:ext cx="4648200" cy="0"/>
          </a:xfrm>
          <a:prstGeom prst="line">
            <a:avLst/>
          </a:prstGeom>
          <a:noFill/>
          <a:ln w="9525">
            <a:solidFill>
              <a:srgbClr val="E1D5BF"/>
            </a:solidFill>
            <a:prstDash val="solid"/>
          </a:ln>
        </p:spPr>
      </p:sp>
      <p:sp>
        <p:nvSpPr>
          <p:cNvPr id="66" name="椭圆 65"/>
          <p:cNvSpPr>
            <a:spLocks noGrp="1"/>
          </p:cNvSpPr>
          <p:nvPr/>
        </p:nvSpPr>
        <p:spPr>
          <a:xfrm>
            <a:off x="6467475" y="3063875"/>
            <a:ext cx="419100" cy="419100"/>
          </a:xfrm>
          <a:prstGeom prst="ellipse">
            <a:avLst/>
          </a:prstGeom>
          <a:solidFill>
            <a:srgbClr val="9C2F26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贰</a:t>
            </a: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028180" y="30353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>
            <a:defPPr algn="l">
              <a:defRPr sz="1500" b="1" i="0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 i="0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人物对话</a:t>
            </a: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7038975" y="3311525"/>
            <a:ext cx="4038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just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SKILL.md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定义五德人设，支持围坐与私聊</a:t>
            </a:r>
          </a:p>
        </p:txBody>
      </p:sp>
      <p:sp>
        <p:nvSpPr>
          <p:cNvPr id="69" name="直接连接符 68"/>
          <p:cNvSpPr>
            <a:spLocks noGrp="1"/>
          </p:cNvSpPr>
          <p:nvPr/>
        </p:nvSpPr>
        <p:spPr>
          <a:xfrm>
            <a:off x="6467475" y="3825875"/>
            <a:ext cx="4648200" cy="0"/>
          </a:xfrm>
          <a:prstGeom prst="line">
            <a:avLst/>
          </a:prstGeom>
          <a:noFill/>
          <a:ln w="9525">
            <a:solidFill>
              <a:srgbClr val="E1D5BF"/>
            </a:solidFill>
            <a:prstDash val="solid"/>
          </a:ln>
        </p:spPr>
      </p:sp>
      <p:sp>
        <p:nvSpPr>
          <p:cNvPr id="70" name="椭圆 69"/>
          <p:cNvSpPr>
            <a:spLocks noGrp="1"/>
          </p:cNvSpPr>
          <p:nvPr/>
        </p:nvSpPr>
        <p:spPr>
          <a:xfrm>
            <a:off x="6467475" y="3978275"/>
            <a:ext cx="419100" cy="419100"/>
          </a:xfrm>
          <a:prstGeom prst="ellipse">
            <a:avLst/>
          </a:prstGeom>
          <a:solidFill>
            <a:srgbClr val="9C2F26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ctr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 i="0">
                <a:solidFill>
                  <a:srgbClr val="FFF8EE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275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叁</a:t>
            </a: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028180" y="391731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>
            <a:defPPr algn="l">
              <a:defRPr sz="1500" b="1" i="0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 i="0">
                <a:solidFill>
                  <a:srgbClr val="9C2F2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9C2F2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多媒体生成</a:t>
            </a: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7038975" y="4204335"/>
            <a:ext cx="4038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marL="0" marR="0" lvl="0" indent="0" algn="just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0" i="0">
                <a:solidFill>
                  <a:srgbClr val="5148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古风形象连接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CosyVoice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LivePortrait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51483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，生成成片</a:t>
            </a: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868680" y="4848225"/>
            <a:ext cx="561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 i="0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defPPr>
          </a:lstStyle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1" i="0">
                <a:solidFill>
                  <a:srgbClr val="1B191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项目时间线</a:t>
            </a:r>
          </a:p>
        </p:txBody>
      </p:sp>
      <p:graphicFrame>
        <p:nvGraphicFramePr>
          <p:cNvPr id="74" name="表格 73"/>
          <p:cNvGraphicFramePr/>
          <p:nvPr/>
        </p:nvGraphicFramePr>
        <p:xfrm>
          <a:off x="868680" y="5300980"/>
          <a:ext cx="10458450" cy="906780"/>
        </p:xfrm>
        <a:graphic>
          <a:graphicData uri="http://schemas.openxmlformats.org/drawingml/2006/table">
            <a:tbl>
              <a:tblPr/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任务线</a:t>
                      </a:r>
                    </a:p>
                  </a:txBody>
                  <a:tcPr marL="19050" marR="19050" marT="19050" marB="19050" anchor="ctr">
                    <a:lnL w="9525">
                      <a:solidFill>
                        <a:srgbClr val="D5C8AE"/>
                      </a:solidFill>
                      <a:prstDash val="soli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10.2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10.3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10.4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10.5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10.6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10.7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10.8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10.9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1483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10.11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>
                      <a:solidFill>
                        <a:srgbClr val="D5C8AE"/>
                      </a:solidFill>
                      <a:prstDash val="soli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8CC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8EE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前置</a:t>
                      </a:r>
                    </a:p>
                  </a:txBody>
                  <a:tcPr marL="19050" marR="19050" marT="0" marB="0" anchor="ctr">
                    <a:lnL w="9525">
                      <a:solidFill>
                        <a:srgbClr val="D5C8AE"/>
                      </a:solidFill>
                      <a:prstDash val="soli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B08D5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04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典籍整理</a:t>
                      </a:r>
                      <a:r>
                        <a:rPr lang="zh-CN" sz="1200" b="1">
                          <a:solidFill>
                            <a:srgbClr val="604A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和数据入库</a:t>
                      </a:r>
                    </a:p>
                  </a:txBody>
                  <a:tcPr marL="19050" marR="19050" marT="0" marB="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BC8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BC8A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8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检索问答</a:t>
                      </a:r>
                    </a:p>
                  </a:txBody>
                  <a:tcPr marL="19050" marR="19050" marT="0" marB="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B08D5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B08D57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8664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知识底座完成后进入双线开发</a:t>
                      </a:r>
                    </a:p>
                  </a:txBody>
                  <a:tcPr marL="19050" marR="19050" marT="0" marB="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FE5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FE5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FE5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FE5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FE5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FE5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FE5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8EE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甲</a:t>
                      </a:r>
                    </a:p>
                  </a:txBody>
                  <a:tcPr marL="19050" marR="19050" marT="0" marB="0" anchor="ctr">
                    <a:lnL w="9525">
                      <a:solidFill>
                        <a:srgbClr val="D5C8AE"/>
                      </a:solidFill>
                      <a:prstDash val="soli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2F5A4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9A908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前置阶段</a:t>
                      </a:r>
                    </a:p>
                  </a:txBody>
                  <a:tcPr marL="19050" marR="19050" marT="0" marB="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2446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</a:t>
                      </a:r>
                      <a:r>
                        <a:rPr lang="zh-CN" altLang="en-US" sz="1200" b="1">
                          <a:solidFill>
                            <a:srgbClr val="2446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调试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91B0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19050" marB="1905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91B0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19050" marB="1905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91B0A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8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边界校验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668F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19050" marB="1905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668F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8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整体页面优化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2F5A4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19050" marB="1905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2F5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8EE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乙</a:t>
                      </a:r>
                    </a:p>
                  </a:txBody>
                  <a:tcPr marL="19050" marR="19050" marT="0" marB="0" anchor="ctr">
                    <a:lnL w="9525">
                      <a:solidFill>
                        <a:srgbClr val="D5C8AE"/>
                      </a:solidFill>
                      <a:prstDash val="soli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9C2F2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9A908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前置阶段</a:t>
                      </a:r>
                    </a:p>
                  </a:txBody>
                  <a:tcPr marL="19050" marR="19050" marT="0" marB="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0" marB="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EEE8D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E24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页面与</a:t>
                      </a:r>
                      <a:r>
                        <a:rPr lang="zh-CN" sz="1200" b="1">
                          <a:solidFill>
                            <a:srgbClr val="6E241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框架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9948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19050" marB="1905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9948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19050" marB="1905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D9948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8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人物对话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C45F5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19050" marB="1905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C45F5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8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多媒体生成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C8AE"/>
                      </a:solidFill>
                      <a:prstDash val="solid"/>
                    </a:lnR>
                    <a:lnT w="9525" cap="flat" cmpd="sng" algn="ctr">
                      <a:solidFill>
                        <a:srgbClr val="D5C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9C2F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9050" marR="19050" marT="19050" marB="19050" anchor="ctr">
                    <a:lnR w="9525">
                      <a:solidFill>
                        <a:srgbClr val="D5C8AE"/>
                      </a:solidFill>
                      <a:prstDash val="solid"/>
                    </a:lnR>
                    <a:lnB w="9525">
                      <a:solidFill>
                        <a:srgbClr val="D5C8AE"/>
                      </a:solidFill>
                      <a:prstDash val="solid"/>
                    </a:lnB>
                    <a:solidFill>
                      <a:srgbClr val="9C2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7F2E6"/>
              </a:gs>
              <a:gs pos="100000">
                <a:srgbClr val="E4D8C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0" cy="5230368"/>
          </a:xfrm>
          <a:prstGeom prst="line">
            <a:avLst/>
          </a:prstGeom>
          <a:ln w="25400">
            <a:solidFill>
              <a:srgbClr val="DDD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6382512"/>
            <a:ext cx="5486400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孔子之境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A89E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智启论语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A89E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81160" y="960120"/>
            <a:ext cx="1554480" cy="237744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0" b="0" i="0" u="none" strike="noStrike" kern="1200" cap="none" spc="0" normalizeH="0" baseline="0" noProof="0">
                <a:ln>
                  <a:noFill/>
                </a:ln>
                <a:solidFill>
                  <a:srgbClr val="DED2B8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8440" y="960120"/>
            <a:ext cx="1051560" cy="1051560"/>
          </a:xfrm>
          <a:prstGeom prst="roundRect">
            <a:avLst>
              <a:gd name="adj" fmla="val 5000"/>
            </a:avLst>
          </a:prstGeom>
          <a:solidFill>
            <a:srgbClr val="9C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論語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8229600" cy="146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读</a:t>
            </a:r>
            <a:r>
              <a:rPr kumimoji="0" lang="zh-CN" altLang="en-US" sz="34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论语</a:t>
            </a: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　问疑惑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1B1916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听群言　立风骨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" y="3063240"/>
            <a:ext cx="3291840" cy="0"/>
          </a:xfrm>
          <a:prstGeom prst="line">
            <a:avLst/>
          </a:prstGeom>
          <a:ln w="25400">
            <a:solidFill>
              <a:srgbClr val="9C2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" y="3337560"/>
            <a:ext cx="8778240" cy="76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2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经典不该被随意剪裁，思想应当被郑重安放。</a:t>
            </a:r>
          </a:p>
          <a:p>
            <a:pPr marL="0" marR="0" lvl="0" indent="0" algn="l" defTabSz="457200" rtl="0" eaLnBrk="1" fontAlgn="auto" latinLnBrk="0" hangingPunct="1">
              <a:lnSpc>
                <a:spcPct val="152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愿我们不止转述古人，也敢于用自己的声音，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去诵读、去理解、去传承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53D3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434840"/>
            <a:ext cx="5120640" cy="658368"/>
          </a:xfrm>
          <a:prstGeom prst="roundRect">
            <a:avLst>
              <a:gd name="adj" fmla="val 6000"/>
            </a:avLst>
          </a:prstGeom>
          <a:solidFill>
            <a:srgbClr val="2F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00584" rIns="201168" bIns="100584" rtlCol="0" anchor="ctr"/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感谢聆听，请老师和同学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批评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8EE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指正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506720"/>
            <a:ext cx="7315200" cy="359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7C73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深藏blue ｜ 张馨文、善文玲 ｜ 2026 年 10 月 13 日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,&quot;left&quot;:68.4,&quot;top&quot;:153,&quot;width&quot;:514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4622</Words>
  <Application>Microsoft Office PowerPoint</Application>
  <PresentationFormat>宽屏</PresentationFormat>
  <Paragraphs>752</Paragraphs>
  <Slides>37</Slides>
  <Notes>11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8" baseType="lpstr">
      <vt:lpstr>等线</vt:lpstr>
      <vt:lpstr>方正舒体</vt:lpstr>
      <vt:lpstr>华文新魏</vt:lpstr>
      <vt:lpstr>楷体</vt:lpstr>
      <vt:lpstr>楷体</vt:lpstr>
      <vt:lpstr>微软雅黑</vt:lpstr>
      <vt:lpstr>微软雅黑</vt:lpstr>
      <vt:lpstr>Arial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Wenling Shan</cp:lastModifiedBy>
  <cp:revision>18</cp:revision>
  <dcterms:created xsi:type="dcterms:W3CDTF">2013-01-27T09:14:16Z</dcterms:created>
  <dcterms:modified xsi:type="dcterms:W3CDTF">2026-10-13T06:43:23Z</dcterms:modified>
  <cp:category/>
</cp:coreProperties>
</file>